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4" r:id="rId8"/>
    <p:sldId id="265" r:id="rId9"/>
    <p:sldId id="267" r:id="rId10"/>
    <p:sldId id="268" r:id="rId11"/>
    <p:sldId id="270" r:id="rId12"/>
    <p:sldId id="271" r:id="rId13"/>
    <p:sldId id="273" r:id="rId14"/>
    <p:sldId id="274" r:id="rId15"/>
    <p:sldId id="276" r:id="rId16"/>
    <p:sldId id="277" r:id="rId17"/>
    <p:sldId id="279" r:id="rId18"/>
    <p:sldId id="280" r:id="rId19"/>
    <p:sldId id="282" r:id="rId20"/>
    <p:sldId id="283" r:id="rId21"/>
    <p:sldId id="285" r:id="rId22"/>
    <p:sldId id="286" r:id="rId23"/>
    <p:sldId id="287" r:id="rId2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725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404764" y="872292"/>
            <a:ext cx="3382471" cy="1947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150" b="0" i="0">
                <a:solidFill>
                  <a:srgbClr val="00BCD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150" b="0" i="0">
                <a:solidFill>
                  <a:srgbClr val="00BCD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150" b="0" i="0">
                <a:solidFill>
                  <a:srgbClr val="00BCD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150" b="0" i="0">
                <a:solidFill>
                  <a:srgbClr val="00BCD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97353" y="-94501"/>
            <a:ext cx="5722620" cy="67094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150" b="0" i="0">
                <a:solidFill>
                  <a:srgbClr val="00BCD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97614" y="1899212"/>
            <a:ext cx="7396770" cy="46513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9222" y="3213159"/>
            <a:ext cx="6853555" cy="69313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400" spc="120" dirty="0">
                <a:solidFill>
                  <a:srgbClr val="C00000"/>
                </a:solidFill>
                <a:latin typeface="Tahoma"/>
                <a:cs typeface="Tahoma"/>
              </a:rPr>
              <a:t>Singly</a:t>
            </a:r>
            <a:endParaRPr sz="4400" spc="120">
              <a:solidFill>
                <a:srgbClr val="C00000"/>
              </a:solidFill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46982" y="3906297"/>
            <a:ext cx="6553834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140"/>
              </a:spcBef>
            </a:pPr>
            <a:r>
              <a:rPr sz="4400" spc="120" dirty="0">
                <a:solidFill>
                  <a:srgbClr val="C00000"/>
                </a:solidFill>
                <a:latin typeface="Tahoma"/>
                <a:ea typeface="+mj-ea"/>
                <a:cs typeface="Tahoma"/>
              </a:rPr>
              <a:t>Linked Lists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18784" y="901815"/>
            <a:ext cx="597344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40"/>
              </a:spcBef>
            </a:pPr>
            <a:r>
              <a:rPr sz="4400" spc="120" dirty="0">
                <a:solidFill>
                  <a:srgbClr val="C00000"/>
                </a:solidFill>
                <a:latin typeface="Tahoma"/>
                <a:cs typeface="Tahoma"/>
              </a:rPr>
              <a:t>What is a linked list?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1044" y="2792711"/>
            <a:ext cx="7416800" cy="198945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92710" algn="ctr">
              <a:lnSpc>
                <a:spcPct val="100000"/>
              </a:lnSpc>
              <a:spcBef>
                <a:spcPts val="315"/>
              </a:spcBef>
            </a:pPr>
            <a:r>
              <a:rPr sz="2200" spc="65" dirty="0">
                <a:latin typeface="Tahoma"/>
                <a:cs typeface="Tahoma"/>
              </a:rPr>
              <a:t>A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data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structure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that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contains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a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-114" dirty="0">
                <a:latin typeface="Arial Black"/>
                <a:cs typeface="Arial Black"/>
              </a:rPr>
              <a:t>head</a:t>
            </a:r>
            <a:r>
              <a:rPr sz="2200" spc="-114" dirty="0">
                <a:latin typeface="Tahoma"/>
                <a:cs typeface="Tahoma"/>
              </a:rPr>
              <a:t>,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-80" dirty="0">
                <a:latin typeface="Arial Black"/>
                <a:cs typeface="Arial Black"/>
              </a:rPr>
              <a:t>tail</a:t>
            </a:r>
            <a:r>
              <a:rPr sz="2200" spc="-155" dirty="0">
                <a:latin typeface="Arial Black"/>
                <a:cs typeface="Arial Black"/>
              </a:rPr>
              <a:t> </a:t>
            </a:r>
            <a:r>
              <a:rPr sz="2200" spc="105" dirty="0">
                <a:latin typeface="Tahoma"/>
                <a:cs typeface="Tahoma"/>
              </a:rPr>
              <a:t>and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-10" dirty="0">
                <a:latin typeface="Arial Black"/>
                <a:cs typeface="Arial Black"/>
              </a:rPr>
              <a:t>length</a:t>
            </a:r>
            <a:endParaRPr sz="2200">
              <a:latin typeface="Arial Black"/>
              <a:cs typeface="Arial Black"/>
            </a:endParaRPr>
          </a:p>
          <a:p>
            <a:pPr marL="92710" algn="ctr">
              <a:lnSpc>
                <a:spcPct val="100000"/>
              </a:lnSpc>
              <a:spcBef>
                <a:spcPts val="220"/>
              </a:spcBef>
            </a:pPr>
            <a:r>
              <a:rPr sz="2200" spc="40" dirty="0">
                <a:latin typeface="Tahoma"/>
                <a:cs typeface="Tahoma"/>
              </a:rPr>
              <a:t>property.</a:t>
            </a:r>
            <a:endParaRPr sz="2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95"/>
              </a:spcBef>
            </a:pPr>
            <a:endParaRPr sz="22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200" spc="70" dirty="0">
                <a:latin typeface="Tahoma"/>
                <a:cs typeface="Tahoma"/>
              </a:rPr>
              <a:t>Linked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Lists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consist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spc="85" dirty="0">
                <a:latin typeface="Tahoma"/>
                <a:cs typeface="Tahoma"/>
              </a:rPr>
              <a:t>of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spc="60" dirty="0">
                <a:latin typeface="Tahoma"/>
                <a:cs typeface="Tahoma"/>
              </a:rPr>
              <a:t>nodes,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spc="105" dirty="0">
                <a:latin typeface="Tahoma"/>
                <a:cs typeface="Tahoma"/>
              </a:rPr>
              <a:t>and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each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spc="-105" dirty="0">
                <a:latin typeface="Arial Black"/>
                <a:cs typeface="Arial Black"/>
              </a:rPr>
              <a:t>node</a:t>
            </a:r>
            <a:r>
              <a:rPr sz="2200" spc="-135" dirty="0">
                <a:latin typeface="Arial Black"/>
                <a:cs typeface="Arial Black"/>
              </a:rPr>
              <a:t> </a:t>
            </a:r>
            <a:r>
              <a:rPr sz="2200" spc="75" dirty="0">
                <a:latin typeface="Tahoma"/>
                <a:cs typeface="Tahoma"/>
              </a:rPr>
              <a:t>has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a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spc="-20" dirty="0">
                <a:latin typeface="Arial Black"/>
                <a:cs typeface="Arial Black"/>
              </a:rPr>
              <a:t>value</a:t>
            </a:r>
            <a:endParaRPr sz="22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215"/>
              </a:spcBef>
            </a:pPr>
            <a:r>
              <a:rPr sz="2200" spc="105" dirty="0">
                <a:latin typeface="Tahoma"/>
                <a:cs typeface="Tahoma"/>
              </a:rPr>
              <a:t>and</a:t>
            </a:r>
            <a:r>
              <a:rPr sz="2200" spc="-114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a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-65" dirty="0">
                <a:latin typeface="Arial Black"/>
                <a:cs typeface="Arial Black"/>
              </a:rPr>
              <a:t>pointer</a:t>
            </a:r>
            <a:r>
              <a:rPr sz="2200" spc="-155" dirty="0">
                <a:latin typeface="Arial Black"/>
                <a:cs typeface="Arial Black"/>
              </a:rPr>
              <a:t> </a:t>
            </a:r>
            <a:r>
              <a:rPr sz="2200" spc="75" dirty="0">
                <a:latin typeface="Tahoma"/>
                <a:cs typeface="Tahoma"/>
              </a:rPr>
              <a:t>to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85" dirty="0">
                <a:latin typeface="Tahoma"/>
                <a:cs typeface="Tahoma"/>
              </a:rPr>
              <a:t>another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105" dirty="0">
                <a:latin typeface="Tahoma"/>
                <a:cs typeface="Tahoma"/>
              </a:rPr>
              <a:t>node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105" dirty="0">
                <a:latin typeface="Tahoma"/>
                <a:cs typeface="Tahoma"/>
              </a:rPr>
              <a:t>or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null</a:t>
            </a:r>
            <a:endParaRPr sz="2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8465" y="734284"/>
            <a:ext cx="529526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40"/>
              </a:spcBef>
            </a:pPr>
            <a:r>
              <a:rPr sz="4400" spc="120" dirty="0">
                <a:solidFill>
                  <a:srgbClr val="C00000"/>
                </a:solidFill>
                <a:latin typeface="Tahoma"/>
                <a:cs typeface="Tahoma"/>
              </a:rPr>
              <a:t>Singly Linked Lists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038023" y="2935713"/>
            <a:ext cx="8465185" cy="2475865"/>
            <a:chOff x="2038023" y="2935713"/>
            <a:chExt cx="8465185" cy="2475865"/>
          </a:xfrm>
        </p:grpSpPr>
        <p:sp>
          <p:nvSpPr>
            <p:cNvPr id="4" name="object 4"/>
            <p:cNvSpPr/>
            <p:nvPr/>
          </p:nvSpPr>
          <p:spPr>
            <a:xfrm>
              <a:off x="2777952" y="2958982"/>
              <a:ext cx="0" cy="1052195"/>
            </a:xfrm>
            <a:custGeom>
              <a:avLst/>
              <a:gdLst/>
              <a:ahLst/>
              <a:cxnLst/>
              <a:rect l="l" t="t" r="r" b="b"/>
              <a:pathLst>
                <a:path h="1052195">
                  <a:moveTo>
                    <a:pt x="0" y="1051723"/>
                  </a:moveTo>
                  <a:lnTo>
                    <a:pt x="0" y="0"/>
                  </a:lnTo>
                </a:path>
              </a:pathLst>
            </a:custGeom>
            <a:ln w="465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367510" y="2958982"/>
              <a:ext cx="9525" cy="1061085"/>
            </a:xfrm>
            <a:custGeom>
              <a:avLst/>
              <a:gdLst/>
              <a:ahLst/>
              <a:cxnLst/>
              <a:rect l="l" t="t" r="r" b="b"/>
              <a:pathLst>
                <a:path w="9525" h="1061085">
                  <a:moveTo>
                    <a:pt x="0" y="1061030"/>
                  </a:moveTo>
                  <a:lnTo>
                    <a:pt x="9307" y="0"/>
                  </a:lnTo>
                </a:path>
              </a:pathLst>
            </a:custGeom>
            <a:ln w="465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77952" y="2977596"/>
              <a:ext cx="6590030" cy="0"/>
            </a:xfrm>
            <a:custGeom>
              <a:avLst/>
              <a:gdLst/>
              <a:ahLst/>
              <a:cxnLst/>
              <a:rect l="l" t="t" r="r" b="b"/>
              <a:pathLst>
                <a:path w="6590030">
                  <a:moveTo>
                    <a:pt x="6589556" y="0"/>
                  </a:moveTo>
                  <a:lnTo>
                    <a:pt x="0" y="0"/>
                  </a:lnTo>
                </a:path>
              </a:pathLst>
            </a:custGeom>
            <a:ln w="465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31096" y="4015358"/>
              <a:ext cx="1303020" cy="1303020"/>
            </a:xfrm>
            <a:custGeom>
              <a:avLst/>
              <a:gdLst/>
              <a:ahLst/>
              <a:cxnLst/>
              <a:rect l="l" t="t" r="r" b="b"/>
              <a:pathLst>
                <a:path w="1303020" h="1303020">
                  <a:moveTo>
                    <a:pt x="0" y="0"/>
                  </a:moveTo>
                  <a:lnTo>
                    <a:pt x="1303019" y="0"/>
                  </a:lnTo>
                  <a:lnTo>
                    <a:pt x="1303019" y="1303019"/>
                  </a:lnTo>
                  <a:lnTo>
                    <a:pt x="0" y="1303019"/>
                  </a:lnTo>
                  <a:lnTo>
                    <a:pt x="0" y="0"/>
                  </a:lnTo>
                  <a:close/>
                </a:path>
              </a:pathLst>
            </a:custGeom>
            <a:ln w="1861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09001" y="4015358"/>
              <a:ext cx="1303020" cy="1303020"/>
            </a:xfrm>
            <a:custGeom>
              <a:avLst/>
              <a:gdLst/>
              <a:ahLst/>
              <a:cxnLst/>
              <a:rect l="l" t="t" r="r" b="b"/>
              <a:pathLst>
                <a:path w="1303020" h="1303020">
                  <a:moveTo>
                    <a:pt x="0" y="0"/>
                  </a:moveTo>
                  <a:lnTo>
                    <a:pt x="1303019" y="0"/>
                  </a:lnTo>
                  <a:lnTo>
                    <a:pt x="1303019" y="1303019"/>
                  </a:lnTo>
                  <a:lnTo>
                    <a:pt x="0" y="1303019"/>
                  </a:lnTo>
                  <a:lnTo>
                    <a:pt x="0" y="0"/>
                  </a:lnTo>
                  <a:close/>
                </a:path>
              </a:pathLst>
            </a:custGeom>
            <a:ln w="1861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711347" y="4015358"/>
              <a:ext cx="1303020" cy="1303020"/>
            </a:xfrm>
            <a:custGeom>
              <a:avLst/>
              <a:gdLst/>
              <a:ahLst/>
              <a:cxnLst/>
              <a:rect l="l" t="t" r="r" b="b"/>
              <a:pathLst>
                <a:path w="1303020" h="1303020">
                  <a:moveTo>
                    <a:pt x="0" y="0"/>
                  </a:moveTo>
                  <a:lnTo>
                    <a:pt x="1303019" y="0"/>
                  </a:lnTo>
                  <a:lnTo>
                    <a:pt x="1303019" y="1303019"/>
                  </a:lnTo>
                  <a:lnTo>
                    <a:pt x="0" y="1303019"/>
                  </a:lnTo>
                  <a:lnTo>
                    <a:pt x="0" y="0"/>
                  </a:lnTo>
                  <a:close/>
                </a:path>
              </a:pathLst>
            </a:custGeom>
            <a:ln w="1861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542749" y="4015358"/>
              <a:ext cx="1303020" cy="1303020"/>
            </a:xfrm>
            <a:custGeom>
              <a:avLst/>
              <a:gdLst/>
              <a:ahLst/>
              <a:cxnLst/>
              <a:rect l="l" t="t" r="r" b="b"/>
              <a:pathLst>
                <a:path w="1303020" h="1303020">
                  <a:moveTo>
                    <a:pt x="0" y="0"/>
                  </a:moveTo>
                  <a:lnTo>
                    <a:pt x="1303019" y="0"/>
                  </a:lnTo>
                  <a:lnTo>
                    <a:pt x="1303019" y="1303019"/>
                  </a:lnTo>
                  <a:lnTo>
                    <a:pt x="0" y="1303019"/>
                  </a:lnTo>
                  <a:lnTo>
                    <a:pt x="0" y="0"/>
                  </a:lnTo>
                  <a:close/>
                </a:path>
              </a:pathLst>
            </a:custGeom>
            <a:ln w="1861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392233" y="4671522"/>
              <a:ext cx="875030" cy="0"/>
            </a:xfrm>
            <a:custGeom>
              <a:avLst/>
              <a:gdLst/>
              <a:ahLst/>
              <a:cxnLst/>
              <a:rect l="l" t="t" r="r" b="b"/>
              <a:pathLst>
                <a:path w="875029">
                  <a:moveTo>
                    <a:pt x="0" y="0"/>
                  </a:moveTo>
                  <a:lnTo>
                    <a:pt x="874884" y="0"/>
                  </a:lnTo>
                </a:path>
              </a:pathLst>
            </a:custGeom>
            <a:ln w="465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157757" y="4562161"/>
              <a:ext cx="104775" cy="209550"/>
            </a:xfrm>
            <a:custGeom>
              <a:avLst/>
              <a:gdLst/>
              <a:ahLst/>
              <a:cxnLst/>
              <a:rect l="l" t="t" r="r" b="b"/>
              <a:pathLst>
                <a:path w="104775" h="209550">
                  <a:moveTo>
                    <a:pt x="0" y="209413"/>
                  </a:moveTo>
                  <a:lnTo>
                    <a:pt x="104706" y="104706"/>
                  </a:lnTo>
                  <a:lnTo>
                    <a:pt x="0" y="0"/>
                  </a:lnTo>
                </a:path>
              </a:pathLst>
            </a:custGeom>
            <a:ln w="465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616675" y="4662215"/>
              <a:ext cx="875030" cy="0"/>
            </a:xfrm>
            <a:custGeom>
              <a:avLst/>
              <a:gdLst/>
              <a:ahLst/>
              <a:cxnLst/>
              <a:rect l="l" t="t" r="r" b="b"/>
              <a:pathLst>
                <a:path w="875029">
                  <a:moveTo>
                    <a:pt x="0" y="0"/>
                  </a:moveTo>
                  <a:lnTo>
                    <a:pt x="874884" y="0"/>
                  </a:lnTo>
                </a:path>
              </a:pathLst>
            </a:custGeom>
            <a:ln w="465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382199" y="4552854"/>
              <a:ext cx="104775" cy="209550"/>
            </a:xfrm>
            <a:custGeom>
              <a:avLst/>
              <a:gdLst/>
              <a:ahLst/>
              <a:cxnLst/>
              <a:rect l="l" t="t" r="r" b="b"/>
              <a:pathLst>
                <a:path w="104775" h="209550">
                  <a:moveTo>
                    <a:pt x="0" y="209413"/>
                  </a:moveTo>
                  <a:lnTo>
                    <a:pt x="104706" y="104706"/>
                  </a:lnTo>
                  <a:lnTo>
                    <a:pt x="0" y="0"/>
                  </a:lnTo>
                </a:path>
              </a:pathLst>
            </a:custGeom>
            <a:ln w="465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850423" y="4662215"/>
              <a:ext cx="875030" cy="0"/>
            </a:xfrm>
            <a:custGeom>
              <a:avLst/>
              <a:gdLst/>
              <a:ahLst/>
              <a:cxnLst/>
              <a:rect l="l" t="t" r="r" b="b"/>
              <a:pathLst>
                <a:path w="875029">
                  <a:moveTo>
                    <a:pt x="0" y="0"/>
                  </a:moveTo>
                  <a:lnTo>
                    <a:pt x="874884" y="0"/>
                  </a:lnTo>
                </a:path>
              </a:pathLst>
            </a:custGeom>
            <a:ln w="465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15947" y="4552854"/>
              <a:ext cx="104775" cy="209550"/>
            </a:xfrm>
            <a:custGeom>
              <a:avLst/>
              <a:gdLst/>
              <a:ahLst/>
              <a:cxnLst/>
              <a:rect l="l" t="t" r="r" b="b"/>
              <a:pathLst>
                <a:path w="104775" h="209550">
                  <a:moveTo>
                    <a:pt x="0" y="209413"/>
                  </a:moveTo>
                  <a:lnTo>
                    <a:pt x="104706" y="104706"/>
                  </a:lnTo>
                  <a:lnTo>
                    <a:pt x="0" y="0"/>
                  </a:lnTo>
                </a:path>
              </a:pathLst>
            </a:custGeom>
            <a:ln w="465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019020" y="4671522"/>
              <a:ext cx="465455" cy="0"/>
            </a:xfrm>
            <a:custGeom>
              <a:avLst/>
              <a:gdLst/>
              <a:ahLst/>
              <a:cxnLst/>
              <a:rect l="l" t="t" r="r" b="b"/>
              <a:pathLst>
                <a:path w="465454">
                  <a:moveTo>
                    <a:pt x="0" y="0"/>
                  </a:moveTo>
                  <a:lnTo>
                    <a:pt x="465364" y="0"/>
                  </a:lnTo>
                </a:path>
              </a:pathLst>
            </a:custGeom>
            <a:ln w="465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375023" y="4562161"/>
              <a:ext cx="104775" cy="209550"/>
            </a:xfrm>
            <a:custGeom>
              <a:avLst/>
              <a:gdLst/>
              <a:ahLst/>
              <a:cxnLst/>
              <a:rect l="l" t="t" r="r" b="b"/>
              <a:pathLst>
                <a:path w="104775" h="209550">
                  <a:moveTo>
                    <a:pt x="0" y="209413"/>
                  </a:moveTo>
                  <a:lnTo>
                    <a:pt x="104706" y="104706"/>
                  </a:lnTo>
                  <a:lnTo>
                    <a:pt x="0" y="0"/>
                  </a:lnTo>
                </a:path>
              </a:pathLst>
            </a:custGeom>
            <a:ln w="465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0034097" y="4803085"/>
            <a:ext cx="50990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65" dirty="0">
                <a:latin typeface="Tahoma"/>
                <a:cs typeface="Tahoma"/>
              </a:rPr>
              <a:t>null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005399" y="4803085"/>
            <a:ext cx="5930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35" dirty="0">
                <a:latin typeface="Tahoma"/>
                <a:cs typeface="Tahoma"/>
              </a:rPr>
              <a:t>next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780958" y="4803085"/>
            <a:ext cx="5930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35" dirty="0">
                <a:latin typeface="Tahoma"/>
                <a:cs typeface="Tahoma"/>
              </a:rPr>
              <a:t>next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565824" y="4803085"/>
            <a:ext cx="5930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35" dirty="0">
                <a:latin typeface="Tahoma"/>
                <a:cs typeface="Tahoma"/>
              </a:rPr>
              <a:t>next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650365" y="4393564"/>
            <a:ext cx="26479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380" dirty="0">
                <a:latin typeface="Arial Black"/>
                <a:cs typeface="Arial Black"/>
              </a:rPr>
              <a:t>4</a:t>
            </a:r>
            <a:endParaRPr sz="330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828270" y="4393564"/>
            <a:ext cx="26479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380" dirty="0">
                <a:latin typeface="Arial Black"/>
                <a:cs typeface="Arial Black"/>
              </a:rPr>
              <a:t>6</a:t>
            </a:r>
            <a:endParaRPr sz="330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062019" y="4393564"/>
            <a:ext cx="26479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380" dirty="0">
                <a:latin typeface="Arial Black"/>
                <a:cs typeface="Arial Black"/>
              </a:rPr>
              <a:t>8</a:t>
            </a:r>
            <a:endParaRPr sz="3300">
              <a:latin typeface="Arial Black"/>
              <a:cs typeface="Arial Black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239924" y="4393564"/>
            <a:ext cx="26479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380" dirty="0">
                <a:latin typeface="Arial Black"/>
                <a:cs typeface="Arial Black"/>
              </a:rPr>
              <a:t>2</a:t>
            </a:r>
            <a:endParaRPr sz="3300">
              <a:latin typeface="Arial Black"/>
              <a:cs typeface="Arial Black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450259" y="2504185"/>
            <a:ext cx="7950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85" dirty="0">
                <a:latin typeface="Arial Black"/>
                <a:cs typeface="Arial Black"/>
              </a:rPr>
              <a:t>HEAD</a:t>
            </a:r>
            <a:endParaRPr sz="2200">
              <a:latin typeface="Arial Black"/>
              <a:cs typeface="Arial Black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038945" y="2504185"/>
            <a:ext cx="61087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280" dirty="0">
                <a:latin typeface="Arial Black"/>
                <a:cs typeface="Arial Black"/>
              </a:rPr>
              <a:t>TAIL</a:t>
            </a:r>
            <a:endParaRPr sz="2200">
              <a:latin typeface="Arial Black"/>
              <a:cs typeface="Arial Black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571254" y="2411112"/>
            <a:ext cx="16084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240" dirty="0">
                <a:latin typeface="Arial Black"/>
                <a:cs typeface="Arial Black"/>
              </a:rPr>
              <a:t>LENGTH</a:t>
            </a:r>
            <a:r>
              <a:rPr sz="2200" spc="-155" dirty="0">
                <a:latin typeface="Arial Black"/>
                <a:cs typeface="Arial Black"/>
              </a:rPr>
              <a:t> </a:t>
            </a:r>
            <a:r>
              <a:rPr sz="2200" spc="-210" dirty="0">
                <a:latin typeface="Arial Black"/>
                <a:cs typeface="Arial Black"/>
              </a:rPr>
              <a:t>=</a:t>
            </a:r>
            <a:r>
              <a:rPr sz="2200" spc="-150" dirty="0">
                <a:latin typeface="Arial Black"/>
                <a:cs typeface="Arial Black"/>
              </a:rPr>
              <a:t> </a:t>
            </a:r>
            <a:r>
              <a:rPr sz="2200" spc="-75" dirty="0">
                <a:latin typeface="Arial Black"/>
                <a:cs typeface="Arial Black"/>
              </a:rPr>
              <a:t>4</a:t>
            </a:r>
            <a:endParaRPr sz="22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44350" y="613289"/>
            <a:ext cx="710374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40"/>
              </a:spcBef>
            </a:pPr>
            <a:r>
              <a:rPr sz="4400" spc="120" dirty="0">
                <a:solidFill>
                  <a:srgbClr val="C00000"/>
                </a:solidFill>
                <a:latin typeface="Tahoma"/>
                <a:cs typeface="Tahoma"/>
              </a:rPr>
              <a:t>Comparisons with Arrays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44447" y="1955056"/>
            <a:ext cx="5521960" cy="3795395"/>
          </a:xfrm>
          <a:prstGeom prst="rect">
            <a:avLst/>
          </a:prstGeom>
        </p:spPr>
        <p:txBody>
          <a:bodyPr vert="horz" wrap="square" lIns="0" tIns="179705" rIns="0" bIns="0" rtlCol="0">
            <a:spAutoFit/>
          </a:bodyPr>
          <a:lstStyle/>
          <a:p>
            <a:pPr marR="483234" algn="ctr">
              <a:lnSpc>
                <a:spcPct val="100000"/>
              </a:lnSpc>
              <a:spcBef>
                <a:spcPts val="1415"/>
              </a:spcBef>
            </a:pPr>
            <a:r>
              <a:rPr sz="2200" spc="-10" dirty="0">
                <a:latin typeface="Arial Black"/>
                <a:cs typeface="Arial Black"/>
              </a:rPr>
              <a:t>Lists</a:t>
            </a:r>
            <a:endParaRPr sz="2200">
              <a:latin typeface="Arial Black"/>
              <a:cs typeface="Arial Black"/>
            </a:endParaRPr>
          </a:p>
          <a:p>
            <a:pPr marL="113030">
              <a:lnSpc>
                <a:spcPct val="100000"/>
              </a:lnSpc>
              <a:spcBef>
                <a:spcPts val="1320"/>
              </a:spcBef>
            </a:pPr>
            <a:r>
              <a:rPr sz="2200" spc="120" dirty="0">
                <a:latin typeface="Tahoma"/>
                <a:cs typeface="Tahoma"/>
              </a:rPr>
              <a:t>Do</a:t>
            </a:r>
            <a:r>
              <a:rPr sz="2200" spc="-114" dirty="0">
                <a:latin typeface="Tahoma"/>
                <a:cs typeface="Tahoma"/>
              </a:rPr>
              <a:t> </a:t>
            </a:r>
            <a:r>
              <a:rPr sz="2200" spc="90" dirty="0">
                <a:latin typeface="Tahoma"/>
                <a:cs typeface="Tahoma"/>
              </a:rPr>
              <a:t>not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55" dirty="0">
                <a:latin typeface="Tahoma"/>
                <a:cs typeface="Tahoma"/>
              </a:rPr>
              <a:t>have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indexes!</a:t>
            </a:r>
            <a:endParaRPr sz="2200">
              <a:latin typeface="Tahoma"/>
              <a:cs typeface="Tahoma"/>
            </a:endParaRPr>
          </a:p>
          <a:p>
            <a:pPr marL="113030" marR="105410">
              <a:lnSpc>
                <a:spcPct val="108300"/>
              </a:lnSpc>
            </a:pPr>
            <a:r>
              <a:rPr sz="2200" spc="75" dirty="0">
                <a:latin typeface="Tahoma"/>
                <a:cs typeface="Tahoma"/>
              </a:rPr>
              <a:t>Connected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via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spc="90" dirty="0">
                <a:latin typeface="Tahoma"/>
                <a:cs typeface="Tahoma"/>
              </a:rPr>
              <a:t>nodes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with</a:t>
            </a:r>
            <a:r>
              <a:rPr sz="2200" spc="-85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a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spc="-120" dirty="0">
                <a:latin typeface="Arial Black"/>
                <a:cs typeface="Arial Black"/>
              </a:rPr>
              <a:t>next</a:t>
            </a:r>
            <a:r>
              <a:rPr sz="2200" spc="-135" dirty="0">
                <a:latin typeface="Arial Black"/>
                <a:cs typeface="Arial Black"/>
              </a:rPr>
              <a:t> </a:t>
            </a:r>
            <a:r>
              <a:rPr sz="2200" spc="75" dirty="0">
                <a:latin typeface="Tahoma"/>
                <a:cs typeface="Tahoma"/>
              </a:rPr>
              <a:t>pointer </a:t>
            </a:r>
            <a:r>
              <a:rPr sz="2200" spc="105" dirty="0">
                <a:latin typeface="Tahoma"/>
                <a:cs typeface="Tahoma"/>
              </a:rPr>
              <a:t>Random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50" dirty="0">
                <a:latin typeface="Tahoma"/>
                <a:cs typeface="Tahoma"/>
              </a:rPr>
              <a:t>access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50" dirty="0">
                <a:latin typeface="Tahoma"/>
                <a:cs typeface="Tahoma"/>
              </a:rPr>
              <a:t>is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90" dirty="0">
                <a:latin typeface="Tahoma"/>
                <a:cs typeface="Tahoma"/>
              </a:rPr>
              <a:t>not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60" dirty="0">
                <a:latin typeface="Tahoma"/>
                <a:cs typeface="Tahoma"/>
              </a:rPr>
              <a:t>allowed</a:t>
            </a:r>
            <a:endParaRPr sz="2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75"/>
              </a:spcBef>
            </a:pPr>
            <a:endParaRPr sz="2200">
              <a:latin typeface="Tahoma"/>
              <a:cs typeface="Tahoma"/>
            </a:endParaRPr>
          </a:p>
          <a:p>
            <a:pPr marR="410845" algn="ctr">
              <a:lnSpc>
                <a:spcPct val="100000"/>
              </a:lnSpc>
              <a:spcBef>
                <a:spcPts val="5"/>
              </a:spcBef>
            </a:pPr>
            <a:r>
              <a:rPr sz="2200" spc="-10" dirty="0">
                <a:latin typeface="Arial Black"/>
                <a:cs typeface="Arial Black"/>
              </a:rPr>
              <a:t>Arrays</a:t>
            </a:r>
            <a:endParaRPr sz="22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315"/>
              </a:spcBef>
            </a:pPr>
            <a:r>
              <a:rPr sz="2200" dirty="0">
                <a:latin typeface="Tahoma"/>
                <a:cs typeface="Tahoma"/>
              </a:rPr>
              <a:t>Indexed </a:t>
            </a:r>
            <a:r>
              <a:rPr sz="2200" spc="85" dirty="0">
                <a:latin typeface="Tahoma"/>
                <a:cs typeface="Tahoma"/>
              </a:rPr>
              <a:t>in</a:t>
            </a:r>
            <a:r>
              <a:rPr sz="2200" spc="5" dirty="0">
                <a:latin typeface="Tahoma"/>
                <a:cs typeface="Tahoma"/>
              </a:rPr>
              <a:t> </a:t>
            </a:r>
            <a:r>
              <a:rPr sz="2200" spc="40" dirty="0">
                <a:latin typeface="Tahoma"/>
                <a:cs typeface="Tahoma"/>
              </a:rPr>
              <a:t>order!</a:t>
            </a:r>
            <a:endParaRPr sz="2200">
              <a:latin typeface="Tahoma"/>
              <a:cs typeface="Tahoma"/>
            </a:endParaRPr>
          </a:p>
          <a:p>
            <a:pPr marL="12700" marR="5080">
              <a:lnSpc>
                <a:spcPct val="108300"/>
              </a:lnSpc>
            </a:pPr>
            <a:r>
              <a:rPr sz="2200" dirty="0">
                <a:latin typeface="Tahoma"/>
                <a:cs typeface="Tahoma"/>
              </a:rPr>
              <a:t>Insertion</a:t>
            </a:r>
            <a:r>
              <a:rPr sz="2200" spc="-30" dirty="0">
                <a:latin typeface="Tahoma"/>
                <a:cs typeface="Tahoma"/>
              </a:rPr>
              <a:t> </a:t>
            </a:r>
            <a:r>
              <a:rPr sz="2200" spc="105" dirty="0">
                <a:latin typeface="Tahoma"/>
                <a:cs typeface="Tahoma"/>
              </a:rPr>
              <a:t>and</a:t>
            </a:r>
            <a:r>
              <a:rPr sz="2200" spc="-25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deletion</a:t>
            </a:r>
            <a:r>
              <a:rPr sz="2200" spc="-30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can</a:t>
            </a:r>
            <a:r>
              <a:rPr sz="2200" spc="-25" dirty="0">
                <a:latin typeface="Tahoma"/>
                <a:cs typeface="Tahoma"/>
              </a:rPr>
              <a:t> </a:t>
            </a:r>
            <a:r>
              <a:rPr sz="2200" spc="95" dirty="0">
                <a:latin typeface="Tahoma"/>
                <a:cs typeface="Tahoma"/>
              </a:rPr>
              <a:t>be</a:t>
            </a:r>
            <a:r>
              <a:rPr sz="2200" spc="-30" dirty="0">
                <a:latin typeface="Tahoma"/>
                <a:cs typeface="Tahoma"/>
              </a:rPr>
              <a:t> </a:t>
            </a:r>
            <a:r>
              <a:rPr sz="2200" spc="45" dirty="0">
                <a:latin typeface="Tahoma"/>
                <a:cs typeface="Tahoma"/>
              </a:rPr>
              <a:t>expensive </a:t>
            </a:r>
            <a:r>
              <a:rPr sz="2200" spc="85" dirty="0">
                <a:latin typeface="Tahoma"/>
                <a:cs typeface="Tahoma"/>
              </a:rPr>
              <a:t>Can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quickly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spc="95" dirty="0">
                <a:latin typeface="Tahoma"/>
                <a:cs typeface="Tahoma"/>
              </a:rPr>
              <a:t>be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accessed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at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a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spc="55" dirty="0">
                <a:latin typeface="Tahoma"/>
                <a:cs typeface="Tahoma"/>
              </a:rPr>
              <a:t>specific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index</a:t>
            </a:r>
            <a:endParaRPr sz="22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96886" y="2768182"/>
            <a:ext cx="102380" cy="10238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96886" y="3131167"/>
            <a:ext cx="102380" cy="10237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96886" y="3494150"/>
            <a:ext cx="102380" cy="10237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94506" y="4806477"/>
            <a:ext cx="102380" cy="10237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4506" y="5169462"/>
            <a:ext cx="102380" cy="10237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294506" y="5532446"/>
            <a:ext cx="102380" cy="1023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4404764" y="872292"/>
            <a:ext cx="3382471" cy="688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43560">
              <a:lnSpc>
                <a:spcPct val="100000"/>
              </a:lnSpc>
              <a:spcBef>
                <a:spcPts val="90"/>
              </a:spcBef>
            </a:pPr>
            <a:r>
              <a:rPr sz="4400" spc="120" dirty="0">
                <a:solidFill>
                  <a:srgbClr val="C00000"/>
                </a:solidFill>
                <a:latin typeface="Tahoma"/>
                <a:cs typeface="Tahoma"/>
              </a:rPr>
              <a:t>Pushing</a:t>
            </a:r>
            <a:endParaRPr sz="4400" spc="120">
              <a:solidFill>
                <a:srgbClr val="C00000"/>
              </a:solidFill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28634" y="3159419"/>
            <a:ext cx="5534660" cy="10496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67765" marR="5080" indent="-1155700">
              <a:lnSpc>
                <a:spcPct val="110100"/>
              </a:lnSpc>
              <a:spcBef>
                <a:spcPts val="95"/>
              </a:spcBef>
            </a:pPr>
            <a:r>
              <a:rPr sz="3050" spc="120" dirty="0">
                <a:latin typeface="Tahoma"/>
                <a:cs typeface="Tahoma"/>
              </a:rPr>
              <a:t>Adding</a:t>
            </a:r>
            <a:r>
              <a:rPr sz="3050" spc="-145" dirty="0">
                <a:latin typeface="Tahoma"/>
                <a:cs typeface="Tahoma"/>
              </a:rPr>
              <a:t> </a:t>
            </a:r>
            <a:r>
              <a:rPr sz="3050" spc="95" dirty="0">
                <a:latin typeface="Tahoma"/>
                <a:cs typeface="Tahoma"/>
              </a:rPr>
              <a:t>a</a:t>
            </a:r>
            <a:r>
              <a:rPr sz="3050" spc="-145" dirty="0">
                <a:latin typeface="Tahoma"/>
                <a:cs typeface="Tahoma"/>
              </a:rPr>
              <a:t> </a:t>
            </a:r>
            <a:r>
              <a:rPr sz="3050" spc="114" dirty="0">
                <a:latin typeface="Tahoma"/>
                <a:cs typeface="Tahoma"/>
              </a:rPr>
              <a:t>new</a:t>
            </a:r>
            <a:r>
              <a:rPr sz="3050" spc="-145" dirty="0">
                <a:latin typeface="Tahoma"/>
                <a:cs typeface="Tahoma"/>
              </a:rPr>
              <a:t> </a:t>
            </a:r>
            <a:r>
              <a:rPr sz="3050" spc="-130" dirty="0">
                <a:latin typeface="Arial Black"/>
                <a:cs typeface="Arial Black"/>
              </a:rPr>
              <a:t>node</a:t>
            </a:r>
            <a:r>
              <a:rPr sz="3050" spc="-210" dirty="0">
                <a:latin typeface="Arial Black"/>
                <a:cs typeface="Arial Black"/>
              </a:rPr>
              <a:t> </a:t>
            </a:r>
            <a:r>
              <a:rPr sz="3050" spc="130" dirty="0">
                <a:latin typeface="Tahoma"/>
                <a:cs typeface="Tahoma"/>
              </a:rPr>
              <a:t>to</a:t>
            </a:r>
            <a:r>
              <a:rPr sz="3050" spc="-145" dirty="0">
                <a:latin typeface="Tahoma"/>
                <a:cs typeface="Tahoma"/>
              </a:rPr>
              <a:t> </a:t>
            </a:r>
            <a:r>
              <a:rPr sz="3050" spc="114" dirty="0">
                <a:latin typeface="Tahoma"/>
                <a:cs typeface="Tahoma"/>
              </a:rPr>
              <a:t>the</a:t>
            </a:r>
            <a:r>
              <a:rPr sz="3050" spc="-145" dirty="0">
                <a:latin typeface="Tahoma"/>
                <a:cs typeface="Tahoma"/>
              </a:rPr>
              <a:t> </a:t>
            </a:r>
            <a:r>
              <a:rPr sz="3050" spc="140" dirty="0">
                <a:latin typeface="Tahoma"/>
                <a:cs typeface="Tahoma"/>
              </a:rPr>
              <a:t>end </a:t>
            </a:r>
            <a:r>
              <a:rPr sz="3050" spc="130" dirty="0">
                <a:latin typeface="Tahoma"/>
                <a:cs typeface="Tahoma"/>
              </a:rPr>
              <a:t>of</a:t>
            </a:r>
            <a:r>
              <a:rPr sz="3050" spc="-155" dirty="0">
                <a:latin typeface="Tahoma"/>
                <a:cs typeface="Tahoma"/>
              </a:rPr>
              <a:t> </a:t>
            </a:r>
            <a:r>
              <a:rPr sz="3050" spc="114" dirty="0">
                <a:latin typeface="Tahoma"/>
                <a:cs typeface="Tahoma"/>
              </a:rPr>
              <a:t>the</a:t>
            </a:r>
            <a:r>
              <a:rPr sz="3050" spc="-150" dirty="0">
                <a:latin typeface="Tahoma"/>
                <a:cs typeface="Tahoma"/>
              </a:rPr>
              <a:t> </a:t>
            </a:r>
            <a:r>
              <a:rPr sz="3050" spc="110" dirty="0">
                <a:latin typeface="Tahoma"/>
                <a:cs typeface="Tahoma"/>
              </a:rPr>
              <a:t>Linked</a:t>
            </a:r>
            <a:r>
              <a:rPr sz="3050" spc="-155" dirty="0">
                <a:latin typeface="Tahoma"/>
                <a:cs typeface="Tahoma"/>
              </a:rPr>
              <a:t> </a:t>
            </a:r>
            <a:r>
              <a:rPr sz="3050" spc="-10" dirty="0">
                <a:latin typeface="Tahoma"/>
                <a:cs typeface="Tahoma"/>
              </a:rPr>
              <a:t>List!</a:t>
            </a:r>
            <a:endParaRPr sz="30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9461" y="313855"/>
            <a:ext cx="5813425" cy="688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140"/>
              </a:spcBef>
            </a:pPr>
            <a:r>
              <a:rPr sz="4400" spc="120" dirty="0">
                <a:solidFill>
                  <a:srgbClr val="C00000"/>
                </a:solidFill>
                <a:latin typeface="Tahoma"/>
                <a:cs typeface="Tahoma"/>
              </a:rPr>
              <a:t>Pushing pseudocode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48911" y="1768910"/>
            <a:ext cx="7479030" cy="3653821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315"/>
              </a:spcBef>
            </a:pPr>
            <a:r>
              <a:rPr sz="2200" dirty="0">
                <a:latin typeface="Tahoma"/>
                <a:cs typeface="Tahoma"/>
              </a:rPr>
              <a:t>This</a:t>
            </a:r>
            <a:r>
              <a:rPr sz="2200" spc="-80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function</a:t>
            </a:r>
            <a:r>
              <a:rPr sz="2200" spc="-80" dirty="0">
                <a:latin typeface="Tahoma"/>
                <a:cs typeface="Tahoma"/>
              </a:rPr>
              <a:t> </a:t>
            </a:r>
            <a:r>
              <a:rPr sz="2200" spc="95" dirty="0">
                <a:latin typeface="Tahoma"/>
                <a:cs typeface="Tahoma"/>
              </a:rPr>
              <a:t>should</a:t>
            </a:r>
            <a:r>
              <a:rPr sz="2200" spc="-75" dirty="0">
                <a:latin typeface="Tahoma"/>
                <a:cs typeface="Tahoma"/>
              </a:rPr>
              <a:t> </a:t>
            </a:r>
            <a:r>
              <a:rPr sz="2200" spc="60" dirty="0">
                <a:latin typeface="Tahoma"/>
                <a:cs typeface="Tahoma"/>
              </a:rPr>
              <a:t>accept</a:t>
            </a:r>
            <a:r>
              <a:rPr sz="2200" spc="-80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a</a:t>
            </a:r>
            <a:r>
              <a:rPr sz="2200" spc="-80" dirty="0">
                <a:latin typeface="Tahoma"/>
                <a:cs typeface="Tahoma"/>
              </a:rPr>
              <a:t> </a:t>
            </a:r>
            <a:r>
              <a:rPr sz="2200" spc="50" dirty="0">
                <a:latin typeface="Tahoma"/>
                <a:cs typeface="Tahoma"/>
              </a:rPr>
              <a:t>value</a:t>
            </a:r>
            <a:endParaRPr sz="2200" dirty="0">
              <a:latin typeface="Tahoma"/>
              <a:cs typeface="Tahoma"/>
            </a:endParaRPr>
          </a:p>
          <a:p>
            <a:pPr marL="12700" marR="5080" algn="just">
              <a:lnSpc>
                <a:spcPct val="108300"/>
              </a:lnSpc>
            </a:pPr>
            <a:r>
              <a:rPr sz="2200" spc="60" dirty="0">
                <a:latin typeface="Tahoma"/>
                <a:cs typeface="Tahoma"/>
              </a:rPr>
              <a:t>Create</a:t>
            </a:r>
            <a:r>
              <a:rPr sz="2200" spc="-114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a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new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105" dirty="0">
                <a:latin typeface="Tahoma"/>
                <a:cs typeface="Tahoma"/>
              </a:rPr>
              <a:t>node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60" dirty="0">
                <a:latin typeface="Tahoma"/>
                <a:cs typeface="Tahoma"/>
              </a:rPr>
              <a:t>using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60" dirty="0">
                <a:latin typeface="Tahoma"/>
                <a:cs typeface="Tahoma"/>
              </a:rPr>
              <a:t>value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passed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to</a:t>
            </a:r>
            <a:r>
              <a:rPr sz="2200" spc="-114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function </a:t>
            </a:r>
            <a:r>
              <a:rPr sz="2200" spc="-90" dirty="0">
                <a:latin typeface="Tahoma"/>
                <a:cs typeface="Tahoma"/>
              </a:rPr>
              <a:t>If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there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50" dirty="0">
                <a:latin typeface="Tahoma"/>
                <a:cs typeface="Tahoma"/>
              </a:rPr>
              <a:t>is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120" dirty="0">
                <a:latin typeface="Tahoma"/>
                <a:cs typeface="Tahoma"/>
              </a:rPr>
              <a:t>no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95" dirty="0">
                <a:latin typeface="Tahoma"/>
                <a:cs typeface="Tahoma"/>
              </a:rPr>
              <a:t>head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property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120" dirty="0">
                <a:latin typeface="Tahoma"/>
                <a:cs typeface="Tahoma"/>
              </a:rPr>
              <a:t>on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list,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set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95" dirty="0">
                <a:latin typeface="Tahoma"/>
                <a:cs typeface="Tahoma"/>
              </a:rPr>
              <a:t>head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80" dirty="0">
                <a:latin typeface="Tahoma"/>
                <a:cs typeface="Tahoma"/>
              </a:rPr>
              <a:t>and</a:t>
            </a:r>
            <a:endParaRPr sz="2200" dirty="0">
              <a:latin typeface="Tahoma"/>
              <a:cs typeface="Tahoma"/>
            </a:endParaRPr>
          </a:p>
          <a:p>
            <a:pPr marL="12700" algn="just">
              <a:lnSpc>
                <a:spcPct val="100000"/>
              </a:lnSpc>
              <a:spcBef>
                <a:spcPts val="220"/>
              </a:spcBef>
            </a:pPr>
            <a:r>
              <a:rPr sz="2200" spc="50" dirty="0">
                <a:latin typeface="Tahoma"/>
                <a:cs typeface="Tahoma"/>
              </a:rPr>
              <a:t>tail</a:t>
            </a:r>
            <a:r>
              <a:rPr sz="2200" spc="-114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to</a:t>
            </a:r>
            <a:r>
              <a:rPr sz="2200" spc="-114" dirty="0">
                <a:latin typeface="Tahoma"/>
                <a:cs typeface="Tahoma"/>
              </a:rPr>
              <a:t> </a:t>
            </a:r>
            <a:r>
              <a:rPr sz="2200" spc="95" dirty="0">
                <a:latin typeface="Tahoma"/>
                <a:cs typeface="Tahoma"/>
              </a:rPr>
              <a:t>be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114" dirty="0">
                <a:latin typeface="Tahoma"/>
                <a:cs typeface="Tahoma"/>
              </a:rPr>
              <a:t> </a:t>
            </a:r>
            <a:r>
              <a:rPr sz="2200" spc="55" dirty="0">
                <a:latin typeface="Tahoma"/>
                <a:cs typeface="Tahoma"/>
              </a:rPr>
              <a:t>newly</a:t>
            </a:r>
            <a:r>
              <a:rPr sz="2200" spc="-114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created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85" dirty="0">
                <a:latin typeface="Tahoma"/>
                <a:cs typeface="Tahoma"/>
              </a:rPr>
              <a:t>node</a:t>
            </a:r>
            <a:endParaRPr sz="2200" dirty="0">
              <a:latin typeface="Tahoma"/>
              <a:cs typeface="Tahoma"/>
            </a:endParaRPr>
          </a:p>
          <a:p>
            <a:pPr marL="12700" marR="90170" algn="just">
              <a:lnSpc>
                <a:spcPct val="108300"/>
              </a:lnSpc>
            </a:pPr>
            <a:r>
              <a:rPr sz="2200" spc="75" dirty="0">
                <a:latin typeface="Tahoma"/>
                <a:cs typeface="Tahoma"/>
              </a:rPr>
              <a:t>Otherwise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set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spc="55" dirty="0">
                <a:latin typeface="Tahoma"/>
                <a:cs typeface="Tahoma"/>
              </a:rPr>
              <a:t>next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property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spc="120" dirty="0">
                <a:latin typeface="Tahoma"/>
                <a:cs typeface="Tahoma"/>
              </a:rPr>
              <a:t>on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spc="50" dirty="0">
                <a:latin typeface="Tahoma"/>
                <a:cs typeface="Tahoma"/>
              </a:rPr>
              <a:t>tail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to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spc="95" dirty="0">
                <a:latin typeface="Tahoma"/>
                <a:cs typeface="Tahoma"/>
              </a:rPr>
              <a:t>be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spc="45" dirty="0">
                <a:latin typeface="Tahoma"/>
                <a:cs typeface="Tahoma"/>
              </a:rPr>
              <a:t>new </a:t>
            </a:r>
            <a:r>
              <a:rPr sz="2200" spc="105" dirty="0">
                <a:latin typeface="Tahoma"/>
                <a:cs typeface="Tahoma"/>
              </a:rPr>
              <a:t>node</a:t>
            </a:r>
            <a:r>
              <a:rPr sz="2200" spc="-85" dirty="0">
                <a:latin typeface="Tahoma"/>
                <a:cs typeface="Tahoma"/>
              </a:rPr>
              <a:t> </a:t>
            </a:r>
            <a:r>
              <a:rPr sz="2200" spc="105" dirty="0">
                <a:latin typeface="Tahoma"/>
                <a:cs typeface="Tahoma"/>
              </a:rPr>
              <a:t>and</a:t>
            </a:r>
            <a:r>
              <a:rPr sz="2200" spc="-8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set</a:t>
            </a:r>
            <a:r>
              <a:rPr sz="2200" spc="-85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85" dirty="0">
                <a:latin typeface="Tahoma"/>
                <a:cs typeface="Tahoma"/>
              </a:rPr>
              <a:t> </a:t>
            </a:r>
            <a:r>
              <a:rPr sz="2200" spc="50" dirty="0">
                <a:latin typeface="Tahoma"/>
                <a:cs typeface="Tahoma"/>
              </a:rPr>
              <a:t>tail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property</a:t>
            </a:r>
            <a:r>
              <a:rPr sz="2200" spc="-85" dirty="0">
                <a:latin typeface="Tahoma"/>
                <a:cs typeface="Tahoma"/>
              </a:rPr>
              <a:t> </a:t>
            </a:r>
            <a:r>
              <a:rPr sz="2200" spc="120" dirty="0">
                <a:latin typeface="Tahoma"/>
                <a:cs typeface="Tahoma"/>
              </a:rPr>
              <a:t>on</a:t>
            </a:r>
            <a:r>
              <a:rPr sz="2200" spc="-85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8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list</a:t>
            </a:r>
            <a:r>
              <a:rPr sz="2200" spc="-85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to</a:t>
            </a:r>
            <a:r>
              <a:rPr sz="2200" spc="-85" dirty="0">
                <a:latin typeface="Tahoma"/>
                <a:cs typeface="Tahoma"/>
              </a:rPr>
              <a:t> </a:t>
            </a:r>
            <a:r>
              <a:rPr sz="2200" spc="95" dirty="0">
                <a:latin typeface="Tahoma"/>
                <a:cs typeface="Tahoma"/>
              </a:rPr>
              <a:t>be</a:t>
            </a:r>
            <a:r>
              <a:rPr sz="2200" spc="-85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85" dirty="0">
                <a:latin typeface="Tahoma"/>
                <a:cs typeface="Tahoma"/>
              </a:rPr>
              <a:t> </a:t>
            </a:r>
            <a:r>
              <a:rPr sz="2200" spc="35" dirty="0">
                <a:latin typeface="Tahoma"/>
                <a:cs typeface="Tahoma"/>
              </a:rPr>
              <a:t>newly </a:t>
            </a:r>
            <a:r>
              <a:rPr sz="2200" spc="65" dirty="0">
                <a:latin typeface="Tahoma"/>
                <a:cs typeface="Tahoma"/>
              </a:rPr>
              <a:t>created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spc="85" dirty="0">
                <a:latin typeface="Tahoma"/>
                <a:cs typeface="Tahoma"/>
              </a:rPr>
              <a:t>node</a:t>
            </a:r>
            <a:endParaRPr sz="2200" dirty="0">
              <a:latin typeface="Tahoma"/>
              <a:cs typeface="Tahoma"/>
            </a:endParaRPr>
          </a:p>
          <a:p>
            <a:pPr marL="12700" marR="3783329" algn="just">
              <a:lnSpc>
                <a:spcPct val="108300"/>
              </a:lnSpc>
            </a:pPr>
            <a:r>
              <a:rPr sz="2200" spc="50" dirty="0">
                <a:latin typeface="Tahoma"/>
                <a:cs typeface="Tahoma"/>
              </a:rPr>
              <a:t>Increment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85" dirty="0">
                <a:latin typeface="Tahoma"/>
                <a:cs typeface="Tahoma"/>
              </a:rPr>
              <a:t> </a:t>
            </a:r>
            <a:r>
              <a:rPr sz="2200" spc="60" dirty="0">
                <a:latin typeface="Tahoma"/>
                <a:cs typeface="Tahoma"/>
              </a:rPr>
              <a:t>length</a:t>
            </a:r>
            <a:r>
              <a:rPr sz="2200" spc="-8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by</a:t>
            </a:r>
            <a:r>
              <a:rPr sz="2200" spc="-85" dirty="0">
                <a:latin typeface="Tahoma"/>
                <a:cs typeface="Tahoma"/>
              </a:rPr>
              <a:t> </a:t>
            </a:r>
            <a:r>
              <a:rPr sz="2200" spc="80" dirty="0">
                <a:latin typeface="Tahoma"/>
                <a:cs typeface="Tahoma"/>
              </a:rPr>
              <a:t>one </a:t>
            </a:r>
            <a:r>
              <a:rPr sz="2200" spc="75" dirty="0">
                <a:latin typeface="Tahoma"/>
                <a:cs typeface="Tahoma"/>
              </a:rPr>
              <a:t>Return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linked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-20" dirty="0">
                <a:latin typeface="Tahoma"/>
                <a:cs typeface="Tahoma"/>
              </a:rPr>
              <a:t>list</a:t>
            </a:r>
            <a:endParaRPr sz="22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lang="en-US" sz="2200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1007" y="1939834"/>
            <a:ext cx="102380" cy="10237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01007" y="2302818"/>
            <a:ext cx="102380" cy="10237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01007" y="2665802"/>
            <a:ext cx="102380" cy="10237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1007" y="3391770"/>
            <a:ext cx="102380" cy="10237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01007" y="4480723"/>
            <a:ext cx="102380" cy="10237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01007" y="4843707"/>
            <a:ext cx="102380" cy="1023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4404764" y="872292"/>
            <a:ext cx="3382471" cy="886012"/>
          </a:xfrm>
          <a:prstGeom prst="rect">
            <a:avLst/>
          </a:prstGeom>
        </p:spPr>
        <p:txBody>
          <a:bodyPr vert="horz" wrap="square" lIns="0" tIns="206883" rIns="0" bIns="0" rtlCol="0">
            <a:spAutoFit/>
          </a:bodyPr>
          <a:lstStyle/>
          <a:p>
            <a:pPr marL="541655">
              <a:lnSpc>
                <a:spcPct val="100000"/>
              </a:lnSpc>
              <a:spcBef>
                <a:spcPts val="90"/>
              </a:spcBef>
            </a:pPr>
            <a:r>
              <a:rPr sz="4400" spc="120" dirty="0">
                <a:solidFill>
                  <a:srgbClr val="C00000"/>
                </a:solidFill>
                <a:latin typeface="Tahoma"/>
                <a:cs typeface="Tahoma"/>
              </a:rPr>
              <a:t>Popping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41087" y="3354871"/>
            <a:ext cx="5709920" cy="10496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54760" marR="5080" indent="-1242695">
              <a:lnSpc>
                <a:spcPct val="110100"/>
              </a:lnSpc>
              <a:spcBef>
                <a:spcPts val="95"/>
              </a:spcBef>
            </a:pPr>
            <a:r>
              <a:rPr sz="3050" spc="100" dirty="0">
                <a:latin typeface="Tahoma"/>
                <a:cs typeface="Tahoma"/>
              </a:rPr>
              <a:t>Removing</a:t>
            </a:r>
            <a:r>
              <a:rPr sz="3050" spc="-145" dirty="0">
                <a:latin typeface="Tahoma"/>
                <a:cs typeface="Tahoma"/>
              </a:rPr>
              <a:t> </a:t>
            </a:r>
            <a:r>
              <a:rPr sz="3050" spc="95" dirty="0">
                <a:latin typeface="Tahoma"/>
                <a:cs typeface="Tahoma"/>
              </a:rPr>
              <a:t>a</a:t>
            </a:r>
            <a:r>
              <a:rPr sz="3050" spc="-140" dirty="0">
                <a:latin typeface="Tahoma"/>
                <a:cs typeface="Tahoma"/>
              </a:rPr>
              <a:t> </a:t>
            </a:r>
            <a:r>
              <a:rPr sz="3050" spc="-130" dirty="0">
                <a:latin typeface="Arial Black"/>
                <a:cs typeface="Arial Black"/>
              </a:rPr>
              <a:t>node</a:t>
            </a:r>
            <a:r>
              <a:rPr sz="3050" spc="-204" dirty="0">
                <a:latin typeface="Arial Black"/>
                <a:cs typeface="Arial Black"/>
              </a:rPr>
              <a:t> </a:t>
            </a:r>
            <a:r>
              <a:rPr sz="3050" spc="160" dirty="0">
                <a:latin typeface="Tahoma"/>
                <a:cs typeface="Tahoma"/>
              </a:rPr>
              <a:t>from</a:t>
            </a:r>
            <a:r>
              <a:rPr sz="3050" spc="-140" dirty="0">
                <a:latin typeface="Tahoma"/>
                <a:cs typeface="Tahoma"/>
              </a:rPr>
              <a:t> </a:t>
            </a:r>
            <a:r>
              <a:rPr sz="3050" spc="114" dirty="0">
                <a:latin typeface="Tahoma"/>
                <a:cs typeface="Tahoma"/>
              </a:rPr>
              <a:t>the</a:t>
            </a:r>
            <a:r>
              <a:rPr sz="3050" spc="-140" dirty="0">
                <a:latin typeface="Tahoma"/>
                <a:cs typeface="Tahoma"/>
              </a:rPr>
              <a:t> </a:t>
            </a:r>
            <a:r>
              <a:rPr sz="3050" spc="140" dirty="0">
                <a:latin typeface="Tahoma"/>
                <a:cs typeface="Tahoma"/>
              </a:rPr>
              <a:t>end </a:t>
            </a:r>
            <a:r>
              <a:rPr sz="3050" spc="130" dirty="0">
                <a:latin typeface="Tahoma"/>
                <a:cs typeface="Tahoma"/>
              </a:rPr>
              <a:t>of</a:t>
            </a:r>
            <a:r>
              <a:rPr sz="3050" spc="-155" dirty="0">
                <a:latin typeface="Tahoma"/>
                <a:cs typeface="Tahoma"/>
              </a:rPr>
              <a:t> </a:t>
            </a:r>
            <a:r>
              <a:rPr sz="3050" spc="114" dirty="0">
                <a:latin typeface="Tahoma"/>
                <a:cs typeface="Tahoma"/>
              </a:rPr>
              <a:t>the</a:t>
            </a:r>
            <a:r>
              <a:rPr sz="3050" spc="-150" dirty="0">
                <a:latin typeface="Tahoma"/>
                <a:cs typeface="Tahoma"/>
              </a:rPr>
              <a:t> </a:t>
            </a:r>
            <a:r>
              <a:rPr sz="3050" spc="110" dirty="0">
                <a:latin typeface="Tahoma"/>
                <a:cs typeface="Tahoma"/>
              </a:rPr>
              <a:t>Linked</a:t>
            </a:r>
            <a:r>
              <a:rPr sz="3050" spc="-155" dirty="0">
                <a:latin typeface="Tahoma"/>
                <a:cs typeface="Tahoma"/>
              </a:rPr>
              <a:t> </a:t>
            </a:r>
            <a:r>
              <a:rPr sz="3050" spc="-10" dirty="0">
                <a:latin typeface="Tahoma"/>
                <a:cs typeface="Tahoma"/>
              </a:rPr>
              <a:t>List!</a:t>
            </a:r>
            <a:endParaRPr sz="30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33961" y="965365"/>
            <a:ext cx="5836285" cy="688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140"/>
              </a:spcBef>
            </a:pPr>
            <a:r>
              <a:rPr sz="4400" spc="120" dirty="0">
                <a:solidFill>
                  <a:srgbClr val="C00000"/>
                </a:solidFill>
                <a:latin typeface="Tahoma"/>
                <a:cs typeface="Tahoma"/>
              </a:rPr>
              <a:t>Popping pseudocode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08788" y="2411113"/>
            <a:ext cx="7091045" cy="29990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27075">
              <a:lnSpc>
                <a:spcPct val="108300"/>
              </a:lnSpc>
              <a:spcBef>
                <a:spcPts val="100"/>
              </a:spcBef>
            </a:pPr>
            <a:r>
              <a:rPr sz="2200" spc="-90" dirty="0">
                <a:latin typeface="Tahoma"/>
                <a:cs typeface="Tahoma"/>
              </a:rPr>
              <a:t>If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there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are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120" dirty="0">
                <a:latin typeface="Tahoma"/>
                <a:cs typeface="Tahoma"/>
              </a:rPr>
              <a:t>no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90" dirty="0">
                <a:latin typeface="Tahoma"/>
                <a:cs typeface="Tahoma"/>
              </a:rPr>
              <a:t>nodes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85" dirty="0">
                <a:latin typeface="Tahoma"/>
                <a:cs typeface="Tahoma"/>
              </a:rPr>
              <a:t>in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list,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85" dirty="0">
                <a:latin typeface="Tahoma"/>
                <a:cs typeface="Tahoma"/>
              </a:rPr>
              <a:t>return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80" dirty="0">
                <a:latin typeface="Tahoma"/>
                <a:cs typeface="Tahoma"/>
              </a:rPr>
              <a:t>undefined </a:t>
            </a:r>
            <a:r>
              <a:rPr sz="2200" spc="105" dirty="0">
                <a:latin typeface="Tahoma"/>
                <a:cs typeface="Tahoma"/>
              </a:rPr>
              <a:t>Loop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through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list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until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spc="80" dirty="0">
                <a:latin typeface="Tahoma"/>
                <a:cs typeface="Tahoma"/>
              </a:rPr>
              <a:t>you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reach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spc="30" dirty="0">
                <a:latin typeface="Tahoma"/>
                <a:cs typeface="Tahoma"/>
              </a:rPr>
              <a:t>tail</a:t>
            </a:r>
            <a:endParaRPr sz="2200" dirty="0">
              <a:latin typeface="Tahoma"/>
              <a:cs typeface="Tahoma"/>
            </a:endParaRPr>
          </a:p>
          <a:p>
            <a:pPr marL="12700" marR="5080">
              <a:lnSpc>
                <a:spcPct val="108300"/>
              </a:lnSpc>
            </a:pPr>
            <a:r>
              <a:rPr sz="2200" dirty="0">
                <a:latin typeface="Tahoma"/>
                <a:cs typeface="Tahoma"/>
              </a:rPr>
              <a:t>Set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55" dirty="0">
                <a:latin typeface="Tahoma"/>
                <a:cs typeface="Tahoma"/>
              </a:rPr>
              <a:t>next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property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85" dirty="0">
                <a:latin typeface="Tahoma"/>
                <a:cs typeface="Tahoma"/>
              </a:rPr>
              <a:t>of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95" dirty="0">
                <a:latin typeface="Tahoma"/>
                <a:cs typeface="Tahoma"/>
              </a:rPr>
              <a:t>2nd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to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50" dirty="0">
                <a:latin typeface="Tahoma"/>
                <a:cs typeface="Tahoma"/>
              </a:rPr>
              <a:t>last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105" dirty="0">
                <a:latin typeface="Tahoma"/>
                <a:cs typeface="Tahoma"/>
              </a:rPr>
              <a:t>node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to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95" dirty="0">
                <a:latin typeface="Tahoma"/>
                <a:cs typeface="Tahoma"/>
              </a:rPr>
              <a:t>be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null </a:t>
            </a:r>
            <a:r>
              <a:rPr sz="2200" dirty="0">
                <a:latin typeface="Tahoma"/>
                <a:cs typeface="Tahoma"/>
              </a:rPr>
              <a:t>Set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50" dirty="0">
                <a:latin typeface="Tahoma"/>
                <a:cs typeface="Tahoma"/>
              </a:rPr>
              <a:t>tail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to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95" dirty="0">
                <a:latin typeface="Tahoma"/>
                <a:cs typeface="Tahoma"/>
              </a:rPr>
              <a:t>be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95" dirty="0">
                <a:latin typeface="Tahoma"/>
                <a:cs typeface="Tahoma"/>
              </a:rPr>
              <a:t>2nd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to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50" dirty="0">
                <a:latin typeface="Tahoma"/>
                <a:cs typeface="Tahoma"/>
              </a:rPr>
              <a:t>last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85" dirty="0">
                <a:latin typeface="Tahoma"/>
                <a:cs typeface="Tahoma"/>
              </a:rPr>
              <a:t>node</a:t>
            </a:r>
            <a:endParaRPr sz="2200" dirty="0">
              <a:latin typeface="Tahoma"/>
              <a:cs typeface="Tahoma"/>
            </a:endParaRPr>
          </a:p>
          <a:p>
            <a:pPr marL="12700" marR="2117090">
              <a:lnSpc>
                <a:spcPct val="108300"/>
              </a:lnSpc>
            </a:pPr>
            <a:r>
              <a:rPr sz="2200" spc="80" dirty="0">
                <a:latin typeface="Tahoma"/>
                <a:cs typeface="Tahoma"/>
              </a:rPr>
              <a:t>Decrement</a:t>
            </a:r>
            <a:r>
              <a:rPr sz="2200" spc="-75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70" dirty="0">
                <a:latin typeface="Tahoma"/>
                <a:cs typeface="Tahoma"/>
              </a:rPr>
              <a:t> </a:t>
            </a:r>
            <a:r>
              <a:rPr sz="2200" spc="60" dirty="0">
                <a:latin typeface="Tahoma"/>
                <a:cs typeface="Tahoma"/>
              </a:rPr>
              <a:t>length</a:t>
            </a:r>
            <a:r>
              <a:rPr sz="2200" spc="-70" dirty="0">
                <a:latin typeface="Tahoma"/>
                <a:cs typeface="Tahoma"/>
              </a:rPr>
              <a:t> </a:t>
            </a:r>
            <a:r>
              <a:rPr sz="2200" spc="85" dirty="0">
                <a:latin typeface="Tahoma"/>
                <a:cs typeface="Tahoma"/>
              </a:rPr>
              <a:t>of</a:t>
            </a:r>
            <a:r>
              <a:rPr sz="2200" spc="-75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7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list</a:t>
            </a:r>
            <a:r>
              <a:rPr sz="2200" spc="-7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by</a:t>
            </a:r>
            <a:r>
              <a:rPr sz="2200" spc="-75" dirty="0">
                <a:latin typeface="Tahoma"/>
                <a:cs typeface="Tahoma"/>
              </a:rPr>
              <a:t> </a:t>
            </a:r>
            <a:r>
              <a:rPr sz="2200" spc="-50" dirty="0">
                <a:latin typeface="Tahoma"/>
                <a:cs typeface="Tahoma"/>
              </a:rPr>
              <a:t>1 </a:t>
            </a:r>
            <a:r>
              <a:rPr sz="2200" spc="75" dirty="0">
                <a:latin typeface="Tahoma"/>
                <a:cs typeface="Tahoma"/>
              </a:rPr>
              <a:t>Return</a:t>
            </a:r>
            <a:r>
              <a:rPr sz="2200" spc="-114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114" dirty="0">
                <a:latin typeface="Tahoma"/>
                <a:cs typeface="Tahoma"/>
              </a:rPr>
              <a:t> </a:t>
            </a:r>
            <a:r>
              <a:rPr sz="2200" spc="60" dirty="0">
                <a:latin typeface="Tahoma"/>
                <a:cs typeface="Tahoma"/>
              </a:rPr>
              <a:t>value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85" dirty="0">
                <a:latin typeface="Tahoma"/>
                <a:cs typeface="Tahoma"/>
              </a:rPr>
              <a:t>of</a:t>
            </a:r>
            <a:r>
              <a:rPr sz="2200" spc="-114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105" dirty="0">
                <a:latin typeface="Tahoma"/>
                <a:cs typeface="Tahoma"/>
              </a:rPr>
              <a:t>node</a:t>
            </a:r>
            <a:r>
              <a:rPr sz="2200" spc="-114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removed</a:t>
            </a:r>
            <a:endParaRPr sz="22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2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10"/>
              </a:spcBef>
            </a:pPr>
            <a:endParaRPr lang="en-US" sz="2200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1611" y="2582036"/>
            <a:ext cx="102380" cy="10238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1611" y="2945021"/>
            <a:ext cx="102380" cy="10237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61611" y="3308005"/>
            <a:ext cx="102380" cy="10237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1611" y="3670989"/>
            <a:ext cx="102380" cy="10237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1611" y="4033973"/>
            <a:ext cx="102380" cy="10237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1611" y="4396957"/>
            <a:ext cx="102380" cy="1023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4404764" y="872292"/>
            <a:ext cx="3382471" cy="821505"/>
          </a:xfrm>
          <a:prstGeom prst="rect">
            <a:avLst/>
          </a:prstGeom>
        </p:spPr>
        <p:txBody>
          <a:bodyPr vert="horz" wrap="square" lIns="0" tIns="143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400" spc="120" dirty="0">
                <a:solidFill>
                  <a:srgbClr val="C00000"/>
                </a:solidFill>
                <a:latin typeface="Tahoma"/>
                <a:cs typeface="Tahoma"/>
              </a:rPr>
              <a:t>Shifting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03422" y="3373486"/>
            <a:ext cx="5766435" cy="10496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0200" marR="5080" indent="-318135">
              <a:lnSpc>
                <a:spcPct val="110100"/>
              </a:lnSpc>
              <a:spcBef>
                <a:spcPts val="95"/>
              </a:spcBef>
            </a:pPr>
            <a:r>
              <a:rPr sz="3050" spc="100" dirty="0">
                <a:latin typeface="Tahoma"/>
                <a:cs typeface="Tahoma"/>
              </a:rPr>
              <a:t>Removing</a:t>
            </a:r>
            <a:r>
              <a:rPr sz="3050" spc="-145" dirty="0">
                <a:latin typeface="Tahoma"/>
                <a:cs typeface="Tahoma"/>
              </a:rPr>
              <a:t> </a:t>
            </a:r>
            <a:r>
              <a:rPr sz="3050" spc="95" dirty="0">
                <a:latin typeface="Tahoma"/>
                <a:cs typeface="Tahoma"/>
              </a:rPr>
              <a:t>a</a:t>
            </a:r>
            <a:r>
              <a:rPr sz="3050" spc="-140" dirty="0">
                <a:latin typeface="Tahoma"/>
                <a:cs typeface="Tahoma"/>
              </a:rPr>
              <a:t> </a:t>
            </a:r>
            <a:r>
              <a:rPr sz="3050" spc="114" dirty="0">
                <a:latin typeface="Tahoma"/>
                <a:cs typeface="Tahoma"/>
              </a:rPr>
              <a:t>new</a:t>
            </a:r>
            <a:r>
              <a:rPr sz="3050" spc="-140" dirty="0">
                <a:latin typeface="Tahoma"/>
                <a:cs typeface="Tahoma"/>
              </a:rPr>
              <a:t> </a:t>
            </a:r>
            <a:r>
              <a:rPr sz="3050" spc="-130" dirty="0">
                <a:latin typeface="Arial Black"/>
                <a:cs typeface="Arial Black"/>
              </a:rPr>
              <a:t>node</a:t>
            </a:r>
            <a:r>
              <a:rPr sz="3050" spc="-204" dirty="0">
                <a:latin typeface="Arial Black"/>
                <a:cs typeface="Arial Black"/>
              </a:rPr>
              <a:t> </a:t>
            </a:r>
            <a:r>
              <a:rPr sz="3050" spc="160" dirty="0">
                <a:latin typeface="Tahoma"/>
                <a:cs typeface="Tahoma"/>
              </a:rPr>
              <a:t>from</a:t>
            </a:r>
            <a:r>
              <a:rPr sz="3050" spc="-140" dirty="0">
                <a:latin typeface="Tahoma"/>
                <a:cs typeface="Tahoma"/>
              </a:rPr>
              <a:t> </a:t>
            </a:r>
            <a:r>
              <a:rPr sz="3050" spc="90" dirty="0">
                <a:latin typeface="Tahoma"/>
                <a:cs typeface="Tahoma"/>
              </a:rPr>
              <a:t>the </a:t>
            </a:r>
            <a:r>
              <a:rPr sz="3050" spc="100" dirty="0">
                <a:latin typeface="Tahoma"/>
                <a:cs typeface="Tahoma"/>
              </a:rPr>
              <a:t>beginning</a:t>
            </a:r>
            <a:r>
              <a:rPr sz="3050" spc="-150" dirty="0">
                <a:latin typeface="Tahoma"/>
                <a:cs typeface="Tahoma"/>
              </a:rPr>
              <a:t> </a:t>
            </a:r>
            <a:r>
              <a:rPr sz="3050" spc="130" dirty="0">
                <a:latin typeface="Tahoma"/>
                <a:cs typeface="Tahoma"/>
              </a:rPr>
              <a:t>of</a:t>
            </a:r>
            <a:r>
              <a:rPr sz="3050" spc="-145" dirty="0">
                <a:latin typeface="Tahoma"/>
                <a:cs typeface="Tahoma"/>
              </a:rPr>
              <a:t> </a:t>
            </a:r>
            <a:r>
              <a:rPr sz="3050" spc="114" dirty="0">
                <a:latin typeface="Tahoma"/>
                <a:cs typeface="Tahoma"/>
              </a:rPr>
              <a:t>the</a:t>
            </a:r>
            <a:r>
              <a:rPr sz="3050" spc="-150" dirty="0">
                <a:latin typeface="Tahoma"/>
                <a:cs typeface="Tahoma"/>
              </a:rPr>
              <a:t> </a:t>
            </a:r>
            <a:r>
              <a:rPr sz="3050" spc="110" dirty="0">
                <a:latin typeface="Tahoma"/>
                <a:cs typeface="Tahoma"/>
              </a:rPr>
              <a:t>Linked</a:t>
            </a:r>
            <a:r>
              <a:rPr sz="3050" spc="-145" dirty="0">
                <a:latin typeface="Tahoma"/>
                <a:cs typeface="Tahoma"/>
              </a:rPr>
              <a:t> </a:t>
            </a:r>
            <a:r>
              <a:rPr sz="3050" spc="-10" dirty="0">
                <a:latin typeface="Tahoma"/>
                <a:cs typeface="Tahoma"/>
              </a:rPr>
              <a:t>List!</a:t>
            </a:r>
            <a:endParaRPr sz="30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50588" y="708959"/>
            <a:ext cx="7691120" cy="69249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4400" spc="120" dirty="0">
                <a:solidFill>
                  <a:srgbClr val="C00000"/>
                </a:solidFill>
                <a:latin typeface="Tahoma"/>
                <a:cs typeface="Tahoma"/>
              </a:rPr>
              <a:t>Shifting pseudocode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95448" y="2364576"/>
            <a:ext cx="6680200" cy="30475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71855">
              <a:lnSpc>
                <a:spcPct val="108300"/>
              </a:lnSpc>
              <a:spcBef>
                <a:spcPts val="100"/>
              </a:spcBef>
            </a:pPr>
            <a:r>
              <a:rPr sz="2200" spc="-90" dirty="0">
                <a:latin typeface="Tahoma"/>
                <a:cs typeface="Tahoma"/>
              </a:rPr>
              <a:t>If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there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are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120" dirty="0">
                <a:latin typeface="Tahoma"/>
                <a:cs typeface="Tahoma"/>
              </a:rPr>
              <a:t>no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60" dirty="0">
                <a:latin typeface="Tahoma"/>
                <a:cs typeface="Tahoma"/>
              </a:rPr>
              <a:t>nodes,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85" dirty="0">
                <a:latin typeface="Tahoma"/>
                <a:cs typeface="Tahoma"/>
              </a:rPr>
              <a:t>return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80" dirty="0">
                <a:latin typeface="Tahoma"/>
                <a:cs typeface="Tahoma"/>
              </a:rPr>
              <a:t>undefined </a:t>
            </a:r>
            <a:r>
              <a:rPr sz="2200" spc="50" dirty="0">
                <a:latin typeface="Tahoma"/>
                <a:cs typeface="Tahoma"/>
              </a:rPr>
              <a:t>Store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current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95" dirty="0">
                <a:latin typeface="Tahoma"/>
                <a:cs typeface="Tahoma"/>
              </a:rPr>
              <a:t>head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property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85" dirty="0">
                <a:latin typeface="Tahoma"/>
                <a:cs typeface="Tahoma"/>
              </a:rPr>
              <a:t>in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a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55" dirty="0">
                <a:latin typeface="Tahoma"/>
                <a:cs typeface="Tahoma"/>
              </a:rPr>
              <a:t>variable</a:t>
            </a:r>
            <a:endParaRPr sz="2200" dirty="0">
              <a:latin typeface="Tahoma"/>
              <a:cs typeface="Tahoma"/>
            </a:endParaRPr>
          </a:p>
          <a:p>
            <a:pPr marL="12700" marR="5080">
              <a:lnSpc>
                <a:spcPct val="108300"/>
              </a:lnSpc>
            </a:pPr>
            <a:r>
              <a:rPr sz="2200" dirty="0">
                <a:latin typeface="Tahoma"/>
                <a:cs typeface="Tahoma"/>
              </a:rPr>
              <a:t>Set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95" dirty="0">
                <a:latin typeface="Tahoma"/>
                <a:cs typeface="Tahoma"/>
              </a:rPr>
              <a:t>head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property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to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spc="95" dirty="0">
                <a:latin typeface="Tahoma"/>
                <a:cs typeface="Tahoma"/>
              </a:rPr>
              <a:t>be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current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head's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spc="35" dirty="0">
                <a:latin typeface="Tahoma"/>
                <a:cs typeface="Tahoma"/>
              </a:rPr>
              <a:t>next </a:t>
            </a:r>
            <a:r>
              <a:rPr sz="2200" spc="65" dirty="0">
                <a:latin typeface="Tahoma"/>
                <a:cs typeface="Tahoma"/>
              </a:rPr>
              <a:t>property</a:t>
            </a:r>
            <a:endParaRPr sz="22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2200" spc="80" dirty="0">
                <a:latin typeface="Tahoma"/>
                <a:cs typeface="Tahoma"/>
              </a:rPr>
              <a:t>Decrement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85" dirty="0">
                <a:latin typeface="Tahoma"/>
                <a:cs typeface="Tahoma"/>
              </a:rPr>
              <a:t> </a:t>
            </a:r>
            <a:r>
              <a:rPr sz="2200" spc="60" dirty="0">
                <a:latin typeface="Tahoma"/>
                <a:cs typeface="Tahoma"/>
              </a:rPr>
              <a:t>length</a:t>
            </a:r>
            <a:r>
              <a:rPr sz="2200" spc="-8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by</a:t>
            </a:r>
            <a:r>
              <a:rPr sz="2200" spc="-85" dirty="0">
                <a:latin typeface="Tahoma"/>
                <a:cs typeface="Tahoma"/>
              </a:rPr>
              <a:t> </a:t>
            </a:r>
            <a:r>
              <a:rPr sz="2200" spc="-50" dirty="0">
                <a:latin typeface="Tahoma"/>
                <a:cs typeface="Tahoma"/>
              </a:rPr>
              <a:t>1</a:t>
            </a:r>
            <a:endParaRPr sz="22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2200" spc="75" dirty="0">
                <a:latin typeface="Tahoma"/>
                <a:cs typeface="Tahoma"/>
              </a:rPr>
              <a:t>Return</a:t>
            </a:r>
            <a:r>
              <a:rPr sz="2200" spc="-114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114" dirty="0">
                <a:latin typeface="Tahoma"/>
                <a:cs typeface="Tahoma"/>
              </a:rPr>
              <a:t> </a:t>
            </a:r>
            <a:r>
              <a:rPr sz="2200" spc="60" dirty="0">
                <a:latin typeface="Tahoma"/>
                <a:cs typeface="Tahoma"/>
              </a:rPr>
              <a:t>value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85" dirty="0">
                <a:latin typeface="Tahoma"/>
                <a:cs typeface="Tahoma"/>
              </a:rPr>
              <a:t>of</a:t>
            </a:r>
            <a:r>
              <a:rPr sz="2200" spc="-114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105" dirty="0">
                <a:latin typeface="Tahoma"/>
                <a:cs typeface="Tahoma"/>
              </a:rPr>
              <a:t>node</a:t>
            </a:r>
            <a:r>
              <a:rPr sz="2200" spc="-114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removed</a:t>
            </a:r>
            <a:endParaRPr sz="22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2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80"/>
              </a:spcBef>
            </a:pPr>
            <a:endParaRPr lang="en-US" sz="2200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7544" y="2535500"/>
            <a:ext cx="102380" cy="10238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47544" y="2898484"/>
            <a:ext cx="102380" cy="10237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47544" y="3261468"/>
            <a:ext cx="102380" cy="10237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7544" y="3987436"/>
            <a:ext cx="102380" cy="10237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7544" y="4350420"/>
            <a:ext cx="102380" cy="10237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4404764" y="872292"/>
            <a:ext cx="3382471" cy="773233"/>
          </a:xfrm>
          <a:prstGeom prst="rect">
            <a:avLst/>
          </a:prstGeom>
        </p:spPr>
        <p:txBody>
          <a:bodyPr vert="horz" wrap="square" lIns="0" tIns="95195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4400" spc="120" dirty="0">
                <a:solidFill>
                  <a:srgbClr val="C00000"/>
                </a:solidFill>
                <a:latin typeface="Tahoma"/>
                <a:cs typeface="Tahoma"/>
              </a:rPr>
              <a:t>Unshifting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30631" y="3261798"/>
            <a:ext cx="5130800" cy="10496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98120">
              <a:lnSpc>
                <a:spcPct val="110100"/>
              </a:lnSpc>
              <a:spcBef>
                <a:spcPts val="95"/>
              </a:spcBef>
            </a:pPr>
            <a:r>
              <a:rPr sz="3050" spc="120" dirty="0">
                <a:latin typeface="Tahoma"/>
                <a:cs typeface="Tahoma"/>
              </a:rPr>
              <a:t>Adding</a:t>
            </a:r>
            <a:r>
              <a:rPr sz="3050" spc="-145" dirty="0">
                <a:latin typeface="Tahoma"/>
                <a:cs typeface="Tahoma"/>
              </a:rPr>
              <a:t> </a:t>
            </a:r>
            <a:r>
              <a:rPr sz="3050" spc="95" dirty="0">
                <a:latin typeface="Tahoma"/>
                <a:cs typeface="Tahoma"/>
              </a:rPr>
              <a:t>a</a:t>
            </a:r>
            <a:r>
              <a:rPr sz="3050" spc="-140" dirty="0">
                <a:latin typeface="Tahoma"/>
                <a:cs typeface="Tahoma"/>
              </a:rPr>
              <a:t> </a:t>
            </a:r>
            <a:r>
              <a:rPr sz="3050" spc="114" dirty="0">
                <a:latin typeface="Tahoma"/>
                <a:cs typeface="Tahoma"/>
              </a:rPr>
              <a:t>new</a:t>
            </a:r>
            <a:r>
              <a:rPr sz="3050" spc="-145" dirty="0">
                <a:latin typeface="Tahoma"/>
                <a:cs typeface="Tahoma"/>
              </a:rPr>
              <a:t> </a:t>
            </a:r>
            <a:r>
              <a:rPr sz="3050" spc="-130" dirty="0">
                <a:latin typeface="Arial Black"/>
                <a:cs typeface="Arial Black"/>
              </a:rPr>
              <a:t>node</a:t>
            </a:r>
            <a:r>
              <a:rPr sz="3050" spc="-204" dirty="0">
                <a:latin typeface="Arial Black"/>
                <a:cs typeface="Arial Black"/>
              </a:rPr>
              <a:t> </a:t>
            </a:r>
            <a:r>
              <a:rPr sz="3050" spc="130" dirty="0">
                <a:latin typeface="Tahoma"/>
                <a:cs typeface="Tahoma"/>
              </a:rPr>
              <a:t>to</a:t>
            </a:r>
            <a:r>
              <a:rPr sz="3050" spc="-145" dirty="0">
                <a:latin typeface="Tahoma"/>
                <a:cs typeface="Tahoma"/>
              </a:rPr>
              <a:t> </a:t>
            </a:r>
            <a:r>
              <a:rPr sz="3050" spc="90" dirty="0">
                <a:latin typeface="Tahoma"/>
                <a:cs typeface="Tahoma"/>
              </a:rPr>
              <a:t>the </a:t>
            </a:r>
            <a:r>
              <a:rPr sz="3050" spc="100" dirty="0">
                <a:latin typeface="Tahoma"/>
                <a:cs typeface="Tahoma"/>
              </a:rPr>
              <a:t>beginning</a:t>
            </a:r>
            <a:r>
              <a:rPr sz="3050" spc="-150" dirty="0">
                <a:latin typeface="Tahoma"/>
                <a:cs typeface="Tahoma"/>
              </a:rPr>
              <a:t> </a:t>
            </a:r>
            <a:r>
              <a:rPr sz="3050" spc="130" dirty="0">
                <a:latin typeface="Tahoma"/>
                <a:cs typeface="Tahoma"/>
              </a:rPr>
              <a:t>of</a:t>
            </a:r>
            <a:r>
              <a:rPr sz="3050" spc="-145" dirty="0">
                <a:latin typeface="Tahoma"/>
                <a:cs typeface="Tahoma"/>
              </a:rPr>
              <a:t> </a:t>
            </a:r>
            <a:r>
              <a:rPr sz="3050" spc="114" dirty="0">
                <a:latin typeface="Tahoma"/>
                <a:cs typeface="Tahoma"/>
              </a:rPr>
              <a:t>the</a:t>
            </a:r>
            <a:r>
              <a:rPr sz="3050" spc="-150" dirty="0">
                <a:latin typeface="Tahoma"/>
                <a:cs typeface="Tahoma"/>
              </a:rPr>
              <a:t> </a:t>
            </a:r>
            <a:r>
              <a:rPr sz="3050" spc="110" dirty="0">
                <a:latin typeface="Tahoma"/>
                <a:cs typeface="Tahoma"/>
              </a:rPr>
              <a:t>Linked</a:t>
            </a:r>
            <a:r>
              <a:rPr sz="3050" spc="-145" dirty="0">
                <a:latin typeface="Tahoma"/>
                <a:cs typeface="Tahoma"/>
              </a:rPr>
              <a:t> </a:t>
            </a:r>
            <a:r>
              <a:rPr sz="3050" spc="-10" dirty="0">
                <a:latin typeface="Tahoma"/>
                <a:cs typeface="Tahoma"/>
              </a:rPr>
              <a:t>List!</a:t>
            </a:r>
            <a:endParaRPr sz="30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53235" y="546538"/>
            <a:ext cx="6485890" cy="688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4400" spc="120" dirty="0">
                <a:solidFill>
                  <a:srgbClr val="C00000"/>
                </a:solidFill>
                <a:latin typeface="Tahoma"/>
                <a:cs typeface="Tahoma"/>
              </a:rPr>
              <a:t>Unshifting pseudocode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30297" y="1852675"/>
            <a:ext cx="7479030" cy="3634649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2200" dirty="0">
                <a:latin typeface="Tahoma"/>
                <a:cs typeface="Tahoma"/>
              </a:rPr>
              <a:t>This</a:t>
            </a:r>
            <a:r>
              <a:rPr sz="2200" spc="-80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function</a:t>
            </a:r>
            <a:r>
              <a:rPr sz="2200" spc="-80" dirty="0">
                <a:latin typeface="Tahoma"/>
                <a:cs typeface="Tahoma"/>
              </a:rPr>
              <a:t> </a:t>
            </a:r>
            <a:r>
              <a:rPr sz="2200" spc="95" dirty="0">
                <a:latin typeface="Tahoma"/>
                <a:cs typeface="Tahoma"/>
              </a:rPr>
              <a:t>should</a:t>
            </a:r>
            <a:r>
              <a:rPr sz="2200" spc="-75" dirty="0">
                <a:latin typeface="Tahoma"/>
                <a:cs typeface="Tahoma"/>
              </a:rPr>
              <a:t> </a:t>
            </a:r>
            <a:r>
              <a:rPr sz="2200" spc="60" dirty="0">
                <a:latin typeface="Tahoma"/>
                <a:cs typeface="Tahoma"/>
              </a:rPr>
              <a:t>accept</a:t>
            </a:r>
            <a:r>
              <a:rPr sz="2200" spc="-80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a</a:t>
            </a:r>
            <a:r>
              <a:rPr sz="2200" spc="-80" dirty="0">
                <a:latin typeface="Tahoma"/>
                <a:cs typeface="Tahoma"/>
              </a:rPr>
              <a:t> </a:t>
            </a:r>
            <a:r>
              <a:rPr sz="2200" spc="50" dirty="0">
                <a:latin typeface="Tahoma"/>
                <a:cs typeface="Tahoma"/>
              </a:rPr>
              <a:t>value</a:t>
            </a:r>
            <a:endParaRPr sz="2200" dirty="0">
              <a:latin typeface="Tahoma"/>
              <a:cs typeface="Tahoma"/>
            </a:endParaRPr>
          </a:p>
          <a:p>
            <a:pPr marL="12700" marR="5080">
              <a:lnSpc>
                <a:spcPct val="108300"/>
              </a:lnSpc>
            </a:pPr>
            <a:r>
              <a:rPr sz="2200" spc="60" dirty="0">
                <a:latin typeface="Tahoma"/>
                <a:cs typeface="Tahoma"/>
              </a:rPr>
              <a:t>Create</a:t>
            </a:r>
            <a:r>
              <a:rPr sz="2200" spc="-114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a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new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105" dirty="0">
                <a:latin typeface="Tahoma"/>
                <a:cs typeface="Tahoma"/>
              </a:rPr>
              <a:t>node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60" dirty="0">
                <a:latin typeface="Tahoma"/>
                <a:cs typeface="Tahoma"/>
              </a:rPr>
              <a:t>using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60" dirty="0">
                <a:latin typeface="Tahoma"/>
                <a:cs typeface="Tahoma"/>
              </a:rPr>
              <a:t>value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passed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to</a:t>
            </a:r>
            <a:r>
              <a:rPr sz="2200" spc="-114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function </a:t>
            </a:r>
            <a:r>
              <a:rPr sz="2200" spc="-90" dirty="0">
                <a:latin typeface="Tahoma"/>
                <a:cs typeface="Tahoma"/>
              </a:rPr>
              <a:t>If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there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50" dirty="0">
                <a:latin typeface="Tahoma"/>
                <a:cs typeface="Tahoma"/>
              </a:rPr>
              <a:t>is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120" dirty="0">
                <a:latin typeface="Tahoma"/>
                <a:cs typeface="Tahoma"/>
              </a:rPr>
              <a:t>no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95" dirty="0">
                <a:latin typeface="Tahoma"/>
                <a:cs typeface="Tahoma"/>
              </a:rPr>
              <a:t>head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property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120" dirty="0">
                <a:latin typeface="Tahoma"/>
                <a:cs typeface="Tahoma"/>
              </a:rPr>
              <a:t>on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list,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set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95" dirty="0">
                <a:latin typeface="Tahoma"/>
                <a:cs typeface="Tahoma"/>
              </a:rPr>
              <a:t>head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80" dirty="0">
                <a:latin typeface="Tahoma"/>
                <a:cs typeface="Tahoma"/>
              </a:rPr>
              <a:t>and</a:t>
            </a:r>
            <a:endParaRPr sz="22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2200" spc="50" dirty="0">
                <a:latin typeface="Tahoma"/>
                <a:cs typeface="Tahoma"/>
              </a:rPr>
              <a:t>tail</a:t>
            </a:r>
            <a:r>
              <a:rPr sz="2200" spc="-114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to</a:t>
            </a:r>
            <a:r>
              <a:rPr sz="2200" spc="-114" dirty="0">
                <a:latin typeface="Tahoma"/>
                <a:cs typeface="Tahoma"/>
              </a:rPr>
              <a:t> </a:t>
            </a:r>
            <a:r>
              <a:rPr sz="2200" spc="95" dirty="0">
                <a:latin typeface="Tahoma"/>
                <a:cs typeface="Tahoma"/>
              </a:rPr>
              <a:t>be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114" dirty="0">
                <a:latin typeface="Tahoma"/>
                <a:cs typeface="Tahoma"/>
              </a:rPr>
              <a:t> </a:t>
            </a:r>
            <a:r>
              <a:rPr sz="2200" spc="55" dirty="0">
                <a:latin typeface="Tahoma"/>
                <a:cs typeface="Tahoma"/>
              </a:rPr>
              <a:t>newly</a:t>
            </a:r>
            <a:r>
              <a:rPr sz="2200" spc="-114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created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85" dirty="0">
                <a:latin typeface="Tahoma"/>
                <a:cs typeface="Tahoma"/>
              </a:rPr>
              <a:t>node</a:t>
            </a:r>
            <a:endParaRPr sz="2200" dirty="0">
              <a:latin typeface="Tahoma"/>
              <a:cs typeface="Tahoma"/>
            </a:endParaRPr>
          </a:p>
          <a:p>
            <a:pPr marL="12700" marR="181610">
              <a:lnSpc>
                <a:spcPct val="108300"/>
              </a:lnSpc>
            </a:pPr>
            <a:r>
              <a:rPr sz="2200" spc="75" dirty="0">
                <a:latin typeface="Tahoma"/>
                <a:cs typeface="Tahoma"/>
              </a:rPr>
              <a:t>Otherwise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set</a:t>
            </a:r>
            <a:r>
              <a:rPr sz="2200" spc="-85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spc="55" dirty="0">
                <a:latin typeface="Tahoma"/>
                <a:cs typeface="Tahoma"/>
              </a:rPr>
              <a:t>newly</a:t>
            </a:r>
            <a:r>
              <a:rPr sz="2200" spc="-85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created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node's</a:t>
            </a:r>
            <a:r>
              <a:rPr sz="2200" spc="-85" dirty="0">
                <a:latin typeface="Tahoma"/>
                <a:cs typeface="Tahoma"/>
              </a:rPr>
              <a:t> </a:t>
            </a:r>
            <a:r>
              <a:rPr sz="2200" spc="55" dirty="0">
                <a:latin typeface="Tahoma"/>
                <a:cs typeface="Tahoma"/>
              </a:rPr>
              <a:t>next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property</a:t>
            </a:r>
            <a:r>
              <a:rPr sz="2200" spc="-85" dirty="0">
                <a:latin typeface="Tahoma"/>
                <a:cs typeface="Tahoma"/>
              </a:rPr>
              <a:t> </a:t>
            </a:r>
            <a:r>
              <a:rPr sz="2200" spc="50" dirty="0">
                <a:latin typeface="Tahoma"/>
                <a:cs typeface="Tahoma"/>
              </a:rPr>
              <a:t>to </a:t>
            </a:r>
            <a:r>
              <a:rPr sz="2200" spc="95" dirty="0">
                <a:latin typeface="Tahoma"/>
                <a:cs typeface="Tahoma"/>
              </a:rPr>
              <a:t>be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current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95" dirty="0">
                <a:latin typeface="Tahoma"/>
                <a:cs typeface="Tahoma"/>
              </a:rPr>
              <a:t>head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property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120" dirty="0">
                <a:latin typeface="Tahoma"/>
                <a:cs typeface="Tahoma"/>
              </a:rPr>
              <a:t>on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-20" dirty="0">
                <a:latin typeface="Tahoma"/>
                <a:cs typeface="Tahoma"/>
              </a:rPr>
              <a:t>list</a:t>
            </a:r>
            <a:endParaRPr sz="2200" dirty="0">
              <a:latin typeface="Tahoma"/>
              <a:cs typeface="Tahoma"/>
            </a:endParaRPr>
          </a:p>
          <a:p>
            <a:pPr marL="12700" marR="52705">
              <a:lnSpc>
                <a:spcPct val="108300"/>
              </a:lnSpc>
            </a:pPr>
            <a:r>
              <a:rPr sz="2200" dirty="0">
                <a:latin typeface="Tahoma"/>
                <a:cs typeface="Tahoma"/>
              </a:rPr>
              <a:t>Set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spc="95" dirty="0">
                <a:latin typeface="Tahoma"/>
                <a:cs typeface="Tahoma"/>
              </a:rPr>
              <a:t>head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property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spc="120" dirty="0">
                <a:latin typeface="Tahoma"/>
                <a:cs typeface="Tahoma"/>
              </a:rPr>
              <a:t>on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list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to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spc="95" dirty="0">
                <a:latin typeface="Tahoma"/>
                <a:cs typeface="Tahoma"/>
              </a:rPr>
              <a:t>be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that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spc="55" dirty="0">
                <a:latin typeface="Tahoma"/>
                <a:cs typeface="Tahoma"/>
              </a:rPr>
              <a:t>newly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spc="55" dirty="0">
                <a:latin typeface="Tahoma"/>
                <a:cs typeface="Tahoma"/>
              </a:rPr>
              <a:t>created </a:t>
            </a:r>
            <a:r>
              <a:rPr sz="2200" spc="85" dirty="0">
                <a:latin typeface="Tahoma"/>
                <a:cs typeface="Tahoma"/>
              </a:rPr>
              <a:t>node</a:t>
            </a:r>
            <a:endParaRPr sz="2200" dirty="0">
              <a:latin typeface="Tahoma"/>
              <a:cs typeface="Tahoma"/>
            </a:endParaRPr>
          </a:p>
          <a:p>
            <a:pPr marL="12700" marR="2840355">
              <a:lnSpc>
                <a:spcPct val="108300"/>
              </a:lnSpc>
            </a:pPr>
            <a:r>
              <a:rPr sz="2200" spc="50" dirty="0">
                <a:latin typeface="Tahoma"/>
                <a:cs typeface="Tahoma"/>
              </a:rPr>
              <a:t>Increment</a:t>
            </a:r>
            <a:r>
              <a:rPr sz="2200" spc="-75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70" dirty="0">
                <a:latin typeface="Tahoma"/>
                <a:cs typeface="Tahoma"/>
              </a:rPr>
              <a:t> </a:t>
            </a:r>
            <a:r>
              <a:rPr sz="2200" spc="60" dirty="0">
                <a:latin typeface="Tahoma"/>
                <a:cs typeface="Tahoma"/>
              </a:rPr>
              <a:t>length</a:t>
            </a:r>
            <a:r>
              <a:rPr sz="2200" spc="-75" dirty="0">
                <a:latin typeface="Tahoma"/>
                <a:cs typeface="Tahoma"/>
              </a:rPr>
              <a:t> </a:t>
            </a:r>
            <a:r>
              <a:rPr sz="2200" spc="85" dirty="0">
                <a:latin typeface="Tahoma"/>
                <a:cs typeface="Tahoma"/>
              </a:rPr>
              <a:t>of</a:t>
            </a:r>
            <a:r>
              <a:rPr sz="2200" spc="-70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7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list</a:t>
            </a:r>
            <a:r>
              <a:rPr sz="2200" spc="-7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by</a:t>
            </a:r>
            <a:r>
              <a:rPr sz="2200" spc="-70" dirty="0">
                <a:latin typeface="Tahoma"/>
                <a:cs typeface="Tahoma"/>
              </a:rPr>
              <a:t> </a:t>
            </a:r>
            <a:r>
              <a:rPr sz="2200" spc="-50" dirty="0">
                <a:latin typeface="Tahoma"/>
                <a:cs typeface="Tahoma"/>
              </a:rPr>
              <a:t>1 </a:t>
            </a:r>
            <a:r>
              <a:rPr sz="2200" spc="75" dirty="0">
                <a:latin typeface="Tahoma"/>
                <a:cs typeface="Tahoma"/>
              </a:rPr>
              <a:t>Return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linked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-20" dirty="0">
                <a:latin typeface="Tahoma"/>
                <a:cs typeface="Tahoma"/>
              </a:rPr>
              <a:t>list</a:t>
            </a:r>
            <a:endParaRPr lang="en-US" sz="2200" spc="-20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2393" y="2023599"/>
            <a:ext cx="102380" cy="10238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82393" y="2386583"/>
            <a:ext cx="102380" cy="10237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82393" y="2749568"/>
            <a:ext cx="102380" cy="10237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2393" y="3475536"/>
            <a:ext cx="102380" cy="10238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82393" y="4201504"/>
            <a:ext cx="102380" cy="10237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2393" y="4927472"/>
            <a:ext cx="102380" cy="10237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82393" y="5290456"/>
            <a:ext cx="102380" cy="10237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4404764" y="872292"/>
            <a:ext cx="3382471" cy="785530"/>
          </a:xfrm>
          <a:prstGeom prst="rect">
            <a:avLst/>
          </a:prstGeom>
        </p:spPr>
        <p:txBody>
          <a:bodyPr vert="horz" wrap="square" lIns="0" tIns="107373" rIns="0" bIns="0" rtlCol="0">
            <a:spAutoFit/>
          </a:bodyPr>
          <a:lstStyle/>
          <a:p>
            <a:pPr marL="1190625">
              <a:lnSpc>
                <a:spcPct val="100000"/>
              </a:lnSpc>
              <a:spcBef>
                <a:spcPts val="100"/>
              </a:spcBef>
            </a:pPr>
            <a:r>
              <a:rPr sz="4400" spc="120" dirty="0">
                <a:solidFill>
                  <a:srgbClr val="C00000"/>
                </a:solidFill>
                <a:latin typeface="Tahoma"/>
                <a:cs typeface="Tahoma"/>
              </a:rPr>
              <a:t>Get</a:t>
            </a:r>
            <a:endParaRPr sz="4400" spc="120">
              <a:solidFill>
                <a:srgbClr val="C00000"/>
              </a:solidFill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18784" y="3280413"/>
            <a:ext cx="5954395" cy="10496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1920" marR="5080" indent="-1379855">
              <a:lnSpc>
                <a:spcPct val="110100"/>
              </a:lnSpc>
              <a:spcBef>
                <a:spcPts val="95"/>
              </a:spcBef>
            </a:pPr>
            <a:r>
              <a:rPr sz="3050" spc="75" dirty="0">
                <a:latin typeface="Tahoma"/>
                <a:cs typeface="Tahoma"/>
              </a:rPr>
              <a:t>Retrieving</a:t>
            </a:r>
            <a:r>
              <a:rPr sz="3050" spc="-145" dirty="0">
                <a:latin typeface="Tahoma"/>
                <a:cs typeface="Tahoma"/>
              </a:rPr>
              <a:t> </a:t>
            </a:r>
            <a:r>
              <a:rPr sz="3050" spc="95" dirty="0">
                <a:latin typeface="Tahoma"/>
                <a:cs typeface="Tahoma"/>
              </a:rPr>
              <a:t>a</a:t>
            </a:r>
            <a:r>
              <a:rPr sz="3050" spc="-140" dirty="0">
                <a:latin typeface="Tahoma"/>
                <a:cs typeface="Tahoma"/>
              </a:rPr>
              <a:t> </a:t>
            </a:r>
            <a:r>
              <a:rPr sz="3050" spc="-130" dirty="0">
                <a:latin typeface="Arial Black"/>
                <a:cs typeface="Arial Black"/>
              </a:rPr>
              <a:t>node</a:t>
            </a:r>
            <a:r>
              <a:rPr sz="3050" spc="-204" dirty="0">
                <a:latin typeface="Arial Black"/>
                <a:cs typeface="Arial Black"/>
              </a:rPr>
              <a:t> </a:t>
            </a:r>
            <a:r>
              <a:rPr sz="3050" spc="65" dirty="0">
                <a:latin typeface="Tahoma"/>
                <a:cs typeface="Tahoma"/>
              </a:rPr>
              <a:t>by</a:t>
            </a:r>
            <a:r>
              <a:rPr sz="3050" spc="-140" dirty="0">
                <a:latin typeface="Tahoma"/>
                <a:cs typeface="Tahoma"/>
              </a:rPr>
              <a:t> </a:t>
            </a:r>
            <a:r>
              <a:rPr sz="3050" spc="55" dirty="0">
                <a:latin typeface="Tahoma"/>
                <a:cs typeface="Tahoma"/>
              </a:rPr>
              <a:t>it's</a:t>
            </a:r>
            <a:r>
              <a:rPr sz="3050" spc="-140" dirty="0">
                <a:latin typeface="Tahoma"/>
                <a:cs typeface="Tahoma"/>
              </a:rPr>
              <a:t> </a:t>
            </a:r>
            <a:r>
              <a:rPr sz="3050" spc="120" dirty="0">
                <a:latin typeface="Tahoma"/>
                <a:cs typeface="Tahoma"/>
              </a:rPr>
              <a:t>position </a:t>
            </a:r>
            <a:r>
              <a:rPr sz="3050" spc="130" dirty="0">
                <a:latin typeface="Tahoma"/>
                <a:cs typeface="Tahoma"/>
              </a:rPr>
              <a:t>in</a:t>
            </a:r>
            <a:r>
              <a:rPr sz="3050" spc="-155" dirty="0">
                <a:latin typeface="Tahoma"/>
                <a:cs typeface="Tahoma"/>
              </a:rPr>
              <a:t> </a:t>
            </a:r>
            <a:r>
              <a:rPr sz="3050" spc="114" dirty="0">
                <a:latin typeface="Tahoma"/>
                <a:cs typeface="Tahoma"/>
              </a:rPr>
              <a:t>the</a:t>
            </a:r>
            <a:r>
              <a:rPr sz="3050" spc="-150" dirty="0">
                <a:latin typeface="Tahoma"/>
                <a:cs typeface="Tahoma"/>
              </a:rPr>
              <a:t> </a:t>
            </a:r>
            <a:r>
              <a:rPr sz="3050" spc="110" dirty="0">
                <a:latin typeface="Tahoma"/>
                <a:cs typeface="Tahoma"/>
              </a:rPr>
              <a:t>Linked</a:t>
            </a:r>
            <a:r>
              <a:rPr sz="3050" spc="-150" dirty="0">
                <a:latin typeface="Tahoma"/>
                <a:cs typeface="Tahoma"/>
              </a:rPr>
              <a:t> </a:t>
            </a:r>
            <a:r>
              <a:rPr sz="3050" spc="-10" dirty="0">
                <a:latin typeface="Tahoma"/>
                <a:cs typeface="Tahoma"/>
              </a:rPr>
              <a:t>List!</a:t>
            </a:r>
            <a:endParaRPr sz="30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7301" y="845971"/>
            <a:ext cx="4537710" cy="1222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120" dirty="0">
                <a:solidFill>
                  <a:srgbClr val="C00000"/>
                </a:solidFill>
                <a:latin typeface="Tahoma"/>
                <a:cs typeface="Tahoma"/>
              </a:rPr>
              <a:t>Get</a:t>
            </a:r>
            <a:r>
              <a:rPr sz="7850" spc="-1115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4400" spc="120" dirty="0">
                <a:solidFill>
                  <a:srgbClr val="C00000"/>
                </a:solidFill>
                <a:latin typeface="Tahoma"/>
                <a:cs typeface="Tahoma"/>
              </a:rPr>
              <a:t>pseudocode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76833" y="2746175"/>
            <a:ext cx="7489825" cy="2659574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2200" dirty="0">
                <a:latin typeface="Tahoma"/>
                <a:cs typeface="Tahoma"/>
              </a:rPr>
              <a:t>This</a:t>
            </a:r>
            <a:r>
              <a:rPr sz="2200" spc="-80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function</a:t>
            </a:r>
            <a:r>
              <a:rPr sz="2200" spc="-80" dirty="0">
                <a:latin typeface="Tahoma"/>
                <a:cs typeface="Tahoma"/>
              </a:rPr>
              <a:t> </a:t>
            </a:r>
            <a:r>
              <a:rPr sz="2200" spc="95" dirty="0">
                <a:latin typeface="Tahoma"/>
                <a:cs typeface="Tahoma"/>
              </a:rPr>
              <a:t>should</a:t>
            </a:r>
            <a:r>
              <a:rPr sz="2200" spc="-80" dirty="0">
                <a:latin typeface="Tahoma"/>
                <a:cs typeface="Tahoma"/>
              </a:rPr>
              <a:t> </a:t>
            </a:r>
            <a:r>
              <a:rPr sz="2200" spc="60" dirty="0">
                <a:latin typeface="Tahoma"/>
                <a:cs typeface="Tahoma"/>
              </a:rPr>
              <a:t>accept</a:t>
            </a:r>
            <a:r>
              <a:rPr sz="2200" spc="-80" dirty="0">
                <a:latin typeface="Tahoma"/>
                <a:cs typeface="Tahoma"/>
              </a:rPr>
              <a:t> </a:t>
            </a:r>
            <a:r>
              <a:rPr sz="2200" spc="95" dirty="0">
                <a:latin typeface="Tahoma"/>
                <a:cs typeface="Tahoma"/>
              </a:rPr>
              <a:t>an</a:t>
            </a:r>
            <a:r>
              <a:rPr sz="2200" spc="-80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index</a:t>
            </a:r>
            <a:endParaRPr sz="2200" dirty="0">
              <a:latin typeface="Tahoma"/>
              <a:cs typeface="Tahoma"/>
            </a:endParaRPr>
          </a:p>
          <a:p>
            <a:pPr marL="12700" marR="334010">
              <a:lnSpc>
                <a:spcPct val="108300"/>
              </a:lnSpc>
            </a:pPr>
            <a:r>
              <a:rPr sz="2200" spc="-90" dirty="0">
                <a:latin typeface="Tahoma"/>
                <a:cs typeface="Tahoma"/>
              </a:rPr>
              <a:t>If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index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50" dirty="0">
                <a:latin typeface="Tahoma"/>
                <a:cs typeface="Tahoma"/>
              </a:rPr>
              <a:t>is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50" dirty="0">
                <a:latin typeface="Tahoma"/>
                <a:cs typeface="Tahoma"/>
              </a:rPr>
              <a:t>less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85" dirty="0">
                <a:latin typeface="Tahoma"/>
                <a:cs typeface="Tahoma"/>
              </a:rPr>
              <a:t>than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zero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105" dirty="0">
                <a:latin typeface="Tahoma"/>
                <a:cs typeface="Tahoma"/>
              </a:rPr>
              <a:t>or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55" dirty="0">
                <a:latin typeface="Tahoma"/>
                <a:cs typeface="Tahoma"/>
              </a:rPr>
              <a:t>greater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85" dirty="0">
                <a:latin typeface="Tahoma"/>
                <a:cs typeface="Tahoma"/>
              </a:rPr>
              <a:t>than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105" dirty="0">
                <a:latin typeface="Tahoma"/>
                <a:cs typeface="Tahoma"/>
              </a:rPr>
              <a:t>or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80" dirty="0">
                <a:latin typeface="Tahoma"/>
                <a:cs typeface="Tahoma"/>
              </a:rPr>
              <a:t>equal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50" dirty="0">
                <a:latin typeface="Tahoma"/>
                <a:cs typeface="Tahoma"/>
              </a:rPr>
              <a:t>to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60" dirty="0">
                <a:latin typeface="Tahoma"/>
                <a:cs typeface="Tahoma"/>
              </a:rPr>
              <a:t>length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85" dirty="0">
                <a:latin typeface="Tahoma"/>
                <a:cs typeface="Tahoma"/>
              </a:rPr>
              <a:t>of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list,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85" dirty="0">
                <a:latin typeface="Tahoma"/>
                <a:cs typeface="Tahoma"/>
              </a:rPr>
              <a:t>return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null</a:t>
            </a:r>
            <a:endParaRPr sz="2200" dirty="0">
              <a:latin typeface="Tahoma"/>
              <a:cs typeface="Tahoma"/>
            </a:endParaRPr>
          </a:p>
          <a:p>
            <a:pPr marL="12700" marR="5080">
              <a:lnSpc>
                <a:spcPct val="108300"/>
              </a:lnSpc>
            </a:pPr>
            <a:r>
              <a:rPr sz="2200" spc="105" dirty="0">
                <a:latin typeface="Tahoma"/>
                <a:cs typeface="Tahoma"/>
              </a:rPr>
              <a:t>Loop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through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list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until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80" dirty="0">
                <a:latin typeface="Tahoma"/>
                <a:cs typeface="Tahoma"/>
              </a:rPr>
              <a:t>you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reach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index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spc="105" dirty="0">
                <a:latin typeface="Tahoma"/>
                <a:cs typeface="Tahoma"/>
              </a:rPr>
              <a:t>and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return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spc="105" dirty="0">
                <a:latin typeface="Tahoma"/>
                <a:cs typeface="Tahoma"/>
              </a:rPr>
              <a:t>node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at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that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spc="55" dirty="0">
                <a:latin typeface="Tahoma"/>
                <a:cs typeface="Tahoma"/>
              </a:rPr>
              <a:t>specific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index</a:t>
            </a:r>
            <a:endParaRPr sz="22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2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35"/>
              </a:spcBef>
            </a:pPr>
            <a:endParaRPr sz="2200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8929" y="2917099"/>
            <a:ext cx="102380" cy="10237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8929" y="3280083"/>
            <a:ext cx="102380" cy="10237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28929" y="4006051"/>
            <a:ext cx="102380" cy="1023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24135" y="1106576"/>
            <a:ext cx="97663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120" dirty="0">
                <a:solidFill>
                  <a:srgbClr val="C00000"/>
                </a:solidFill>
                <a:latin typeface="Tahoma"/>
                <a:ea typeface="+mj-ea"/>
                <a:cs typeface="Tahoma"/>
              </a:rPr>
              <a:t>Set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82005" y="2638210"/>
            <a:ext cx="5427980" cy="1551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 algn="ctr">
              <a:lnSpc>
                <a:spcPct val="109100"/>
              </a:lnSpc>
              <a:spcBef>
                <a:spcPts val="130"/>
              </a:spcBef>
            </a:pPr>
            <a:r>
              <a:rPr sz="3050" spc="90" dirty="0">
                <a:latin typeface="Tahoma"/>
                <a:cs typeface="Tahoma"/>
              </a:rPr>
              <a:t>Changing</a:t>
            </a:r>
            <a:r>
              <a:rPr sz="3050" spc="-140" dirty="0">
                <a:latin typeface="Tahoma"/>
                <a:cs typeface="Tahoma"/>
              </a:rPr>
              <a:t> </a:t>
            </a:r>
            <a:r>
              <a:rPr sz="3050" spc="114" dirty="0">
                <a:latin typeface="Tahoma"/>
                <a:cs typeface="Tahoma"/>
              </a:rPr>
              <a:t>the</a:t>
            </a:r>
            <a:r>
              <a:rPr sz="3050" spc="-140" dirty="0">
                <a:latin typeface="Tahoma"/>
                <a:cs typeface="Tahoma"/>
              </a:rPr>
              <a:t> </a:t>
            </a:r>
            <a:r>
              <a:rPr sz="3050" spc="-135" dirty="0">
                <a:latin typeface="Arial Black"/>
                <a:cs typeface="Arial Black"/>
              </a:rPr>
              <a:t>value</a:t>
            </a:r>
            <a:r>
              <a:rPr sz="3050" spc="-200" dirty="0">
                <a:latin typeface="Arial Black"/>
                <a:cs typeface="Arial Black"/>
              </a:rPr>
              <a:t> </a:t>
            </a:r>
            <a:r>
              <a:rPr sz="3050" spc="130" dirty="0">
                <a:latin typeface="Tahoma"/>
                <a:cs typeface="Tahoma"/>
              </a:rPr>
              <a:t>of</a:t>
            </a:r>
            <a:r>
              <a:rPr sz="3050" spc="-140" dirty="0">
                <a:latin typeface="Tahoma"/>
                <a:cs typeface="Tahoma"/>
              </a:rPr>
              <a:t> </a:t>
            </a:r>
            <a:r>
              <a:rPr sz="3050" spc="95" dirty="0">
                <a:latin typeface="Tahoma"/>
                <a:cs typeface="Tahoma"/>
              </a:rPr>
              <a:t>a</a:t>
            </a:r>
            <a:r>
              <a:rPr sz="3050" spc="-135" dirty="0">
                <a:latin typeface="Tahoma"/>
                <a:cs typeface="Tahoma"/>
              </a:rPr>
              <a:t> </a:t>
            </a:r>
            <a:r>
              <a:rPr sz="3050" spc="145" dirty="0">
                <a:latin typeface="Tahoma"/>
                <a:cs typeface="Tahoma"/>
              </a:rPr>
              <a:t>node </a:t>
            </a:r>
            <a:r>
              <a:rPr sz="3050" spc="140" dirty="0">
                <a:latin typeface="Tahoma"/>
                <a:cs typeface="Tahoma"/>
              </a:rPr>
              <a:t>based</a:t>
            </a:r>
            <a:r>
              <a:rPr sz="3050" spc="-145" dirty="0">
                <a:latin typeface="Tahoma"/>
                <a:cs typeface="Tahoma"/>
              </a:rPr>
              <a:t> </a:t>
            </a:r>
            <a:r>
              <a:rPr sz="3050" spc="180" dirty="0">
                <a:latin typeface="Tahoma"/>
                <a:cs typeface="Tahoma"/>
              </a:rPr>
              <a:t>on</a:t>
            </a:r>
            <a:r>
              <a:rPr sz="3050" spc="-145" dirty="0">
                <a:latin typeface="Tahoma"/>
                <a:cs typeface="Tahoma"/>
              </a:rPr>
              <a:t> </a:t>
            </a:r>
            <a:r>
              <a:rPr sz="3050" spc="55" dirty="0">
                <a:latin typeface="Tahoma"/>
                <a:cs typeface="Tahoma"/>
              </a:rPr>
              <a:t>it's</a:t>
            </a:r>
            <a:r>
              <a:rPr sz="3050" spc="-145" dirty="0">
                <a:latin typeface="Tahoma"/>
                <a:cs typeface="Tahoma"/>
              </a:rPr>
              <a:t> </a:t>
            </a:r>
            <a:r>
              <a:rPr sz="3050" spc="130" dirty="0">
                <a:latin typeface="Tahoma"/>
                <a:cs typeface="Tahoma"/>
              </a:rPr>
              <a:t>position</a:t>
            </a:r>
            <a:r>
              <a:rPr sz="3050" spc="-145" dirty="0">
                <a:latin typeface="Tahoma"/>
                <a:cs typeface="Tahoma"/>
              </a:rPr>
              <a:t> </a:t>
            </a:r>
            <a:r>
              <a:rPr sz="3050" spc="130" dirty="0">
                <a:latin typeface="Tahoma"/>
                <a:cs typeface="Tahoma"/>
              </a:rPr>
              <a:t>in</a:t>
            </a:r>
            <a:r>
              <a:rPr sz="3050" spc="-145" dirty="0">
                <a:latin typeface="Tahoma"/>
                <a:cs typeface="Tahoma"/>
              </a:rPr>
              <a:t> </a:t>
            </a:r>
            <a:r>
              <a:rPr sz="3050" spc="90" dirty="0">
                <a:latin typeface="Tahoma"/>
                <a:cs typeface="Tahoma"/>
              </a:rPr>
              <a:t>the </a:t>
            </a:r>
            <a:r>
              <a:rPr sz="3050" spc="110" dirty="0">
                <a:latin typeface="Tahoma"/>
                <a:cs typeface="Tahoma"/>
              </a:rPr>
              <a:t>Linked</a:t>
            </a:r>
            <a:r>
              <a:rPr sz="3050" spc="-150" dirty="0">
                <a:latin typeface="Tahoma"/>
                <a:cs typeface="Tahoma"/>
              </a:rPr>
              <a:t> </a:t>
            </a:r>
            <a:r>
              <a:rPr sz="3050" spc="60" dirty="0">
                <a:latin typeface="Tahoma"/>
                <a:cs typeface="Tahoma"/>
              </a:rPr>
              <a:t>List</a:t>
            </a:r>
            <a:endParaRPr sz="30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89252" y="790128"/>
            <a:ext cx="4488180" cy="1222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120" dirty="0">
                <a:solidFill>
                  <a:srgbClr val="C00000"/>
                </a:solidFill>
                <a:latin typeface="Tahoma"/>
                <a:cs typeface="Tahoma"/>
              </a:rPr>
              <a:t>Set</a:t>
            </a:r>
            <a:r>
              <a:rPr sz="7850" spc="-1110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4400" spc="120" dirty="0">
                <a:solidFill>
                  <a:srgbClr val="C00000"/>
                </a:solidFill>
                <a:latin typeface="Tahoma"/>
                <a:cs typeface="Tahoma"/>
              </a:rPr>
              <a:t>pseudocode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04755" y="2839248"/>
            <a:ext cx="7270115" cy="25678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41705">
              <a:lnSpc>
                <a:spcPct val="108300"/>
              </a:lnSpc>
              <a:spcBef>
                <a:spcPts val="100"/>
              </a:spcBef>
            </a:pPr>
            <a:r>
              <a:rPr sz="2200" dirty="0">
                <a:latin typeface="Tahoma"/>
                <a:cs typeface="Tahoma"/>
              </a:rPr>
              <a:t>This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function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spc="95" dirty="0">
                <a:latin typeface="Tahoma"/>
                <a:cs typeface="Tahoma"/>
              </a:rPr>
              <a:t>should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60" dirty="0">
                <a:latin typeface="Tahoma"/>
                <a:cs typeface="Tahoma"/>
              </a:rPr>
              <a:t>accept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a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spc="60" dirty="0">
                <a:latin typeface="Tahoma"/>
                <a:cs typeface="Tahoma"/>
              </a:rPr>
              <a:t>value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105" dirty="0">
                <a:latin typeface="Tahoma"/>
                <a:cs typeface="Tahoma"/>
              </a:rPr>
              <a:t>and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spc="95" dirty="0">
                <a:latin typeface="Tahoma"/>
                <a:cs typeface="Tahoma"/>
              </a:rPr>
              <a:t>an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index </a:t>
            </a:r>
            <a:r>
              <a:rPr sz="2200" spc="95" dirty="0">
                <a:latin typeface="Tahoma"/>
                <a:cs typeface="Tahoma"/>
              </a:rPr>
              <a:t>Use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85" dirty="0">
                <a:latin typeface="Tahoma"/>
                <a:cs typeface="Tahoma"/>
              </a:rPr>
              <a:t>your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-145" dirty="0">
                <a:latin typeface="Arial Black"/>
                <a:cs typeface="Arial Black"/>
              </a:rPr>
              <a:t>get</a:t>
            </a:r>
            <a:r>
              <a:rPr sz="2200" spc="-155" dirty="0">
                <a:latin typeface="Arial Black"/>
                <a:cs typeface="Arial Black"/>
              </a:rPr>
              <a:t> </a:t>
            </a:r>
            <a:r>
              <a:rPr sz="2200" spc="75" dirty="0">
                <a:latin typeface="Tahoma"/>
                <a:cs typeface="Tahoma"/>
              </a:rPr>
              <a:t>function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to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80" dirty="0">
                <a:latin typeface="Tahoma"/>
                <a:cs typeface="Tahoma"/>
              </a:rPr>
              <a:t>find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55" dirty="0">
                <a:latin typeface="Tahoma"/>
                <a:cs typeface="Tahoma"/>
              </a:rPr>
              <a:t>specific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55" dirty="0">
                <a:latin typeface="Tahoma"/>
                <a:cs typeface="Tahoma"/>
              </a:rPr>
              <a:t>node.</a:t>
            </a:r>
            <a:endParaRPr sz="22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2200" spc="-90" dirty="0">
                <a:latin typeface="Tahoma"/>
                <a:cs typeface="Tahoma"/>
              </a:rPr>
              <a:t>If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105" dirty="0">
                <a:latin typeface="Tahoma"/>
                <a:cs typeface="Tahoma"/>
              </a:rPr>
              <a:t>node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50" dirty="0">
                <a:latin typeface="Tahoma"/>
                <a:cs typeface="Tahoma"/>
              </a:rPr>
              <a:t>is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90" dirty="0">
                <a:latin typeface="Tahoma"/>
                <a:cs typeface="Tahoma"/>
              </a:rPr>
              <a:t>not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60" dirty="0">
                <a:latin typeface="Tahoma"/>
                <a:cs typeface="Tahoma"/>
              </a:rPr>
              <a:t>found,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85" dirty="0">
                <a:latin typeface="Tahoma"/>
                <a:cs typeface="Tahoma"/>
              </a:rPr>
              <a:t>return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40" dirty="0">
                <a:latin typeface="Tahoma"/>
                <a:cs typeface="Tahoma"/>
              </a:rPr>
              <a:t>false</a:t>
            </a:r>
            <a:endParaRPr sz="2200" dirty="0">
              <a:latin typeface="Tahoma"/>
              <a:cs typeface="Tahoma"/>
            </a:endParaRPr>
          </a:p>
          <a:p>
            <a:pPr marL="12700" marR="5080">
              <a:lnSpc>
                <a:spcPct val="108300"/>
              </a:lnSpc>
            </a:pPr>
            <a:r>
              <a:rPr sz="2200" spc="-90" dirty="0">
                <a:latin typeface="Tahoma"/>
                <a:cs typeface="Tahoma"/>
              </a:rPr>
              <a:t>If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spc="105" dirty="0">
                <a:latin typeface="Tahoma"/>
                <a:cs typeface="Tahoma"/>
              </a:rPr>
              <a:t>node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spc="50" dirty="0">
                <a:latin typeface="Tahoma"/>
                <a:cs typeface="Tahoma"/>
              </a:rPr>
              <a:t>is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60" dirty="0">
                <a:latin typeface="Tahoma"/>
                <a:cs typeface="Tahoma"/>
              </a:rPr>
              <a:t>found,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set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60" dirty="0">
                <a:latin typeface="Tahoma"/>
                <a:cs typeface="Tahoma"/>
              </a:rPr>
              <a:t>value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spc="85" dirty="0">
                <a:latin typeface="Tahoma"/>
                <a:cs typeface="Tahoma"/>
              </a:rPr>
              <a:t>of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that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105" dirty="0">
                <a:latin typeface="Tahoma"/>
                <a:cs typeface="Tahoma"/>
              </a:rPr>
              <a:t>node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to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spc="95" dirty="0">
                <a:latin typeface="Tahoma"/>
                <a:cs typeface="Tahoma"/>
              </a:rPr>
              <a:t>be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45" dirty="0">
                <a:latin typeface="Tahoma"/>
                <a:cs typeface="Tahoma"/>
              </a:rPr>
              <a:t>the </a:t>
            </a:r>
            <a:r>
              <a:rPr sz="2200" spc="60" dirty="0">
                <a:latin typeface="Tahoma"/>
                <a:cs typeface="Tahoma"/>
              </a:rPr>
              <a:t>value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passed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to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function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105" dirty="0">
                <a:latin typeface="Tahoma"/>
                <a:cs typeface="Tahoma"/>
              </a:rPr>
              <a:t>and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85" dirty="0">
                <a:latin typeface="Tahoma"/>
                <a:cs typeface="Tahoma"/>
              </a:rPr>
              <a:t>return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55" dirty="0">
                <a:latin typeface="Tahoma"/>
                <a:cs typeface="Tahoma"/>
              </a:rPr>
              <a:t>true</a:t>
            </a:r>
            <a:endParaRPr sz="22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2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lang="en-US" sz="2200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6851" y="3010172"/>
            <a:ext cx="102380" cy="10237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6851" y="3373156"/>
            <a:ext cx="102380" cy="10237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6851" y="3736140"/>
            <a:ext cx="102380" cy="10237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56851" y="4099124"/>
            <a:ext cx="102380" cy="10237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4404764" y="872292"/>
            <a:ext cx="3382471" cy="773233"/>
          </a:xfrm>
          <a:prstGeom prst="rect">
            <a:avLst/>
          </a:prstGeom>
        </p:spPr>
        <p:txBody>
          <a:bodyPr vert="horz" wrap="square" lIns="0" tIns="95195" rIns="0" bIns="0" rtlCol="0">
            <a:spAutoFit/>
          </a:bodyPr>
          <a:lstStyle/>
          <a:p>
            <a:pPr marL="866775">
              <a:lnSpc>
                <a:spcPct val="100000"/>
              </a:lnSpc>
              <a:spcBef>
                <a:spcPts val="90"/>
              </a:spcBef>
            </a:pPr>
            <a:r>
              <a:rPr sz="4400" spc="120" dirty="0">
                <a:solidFill>
                  <a:srgbClr val="C00000"/>
                </a:solidFill>
                <a:latin typeface="Tahoma"/>
                <a:cs typeface="Tahoma"/>
              </a:rPr>
              <a:t>Insert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65029" y="3029116"/>
            <a:ext cx="5862320" cy="10496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22350" marR="5080" indent="-1010285">
              <a:lnSpc>
                <a:spcPct val="110100"/>
              </a:lnSpc>
              <a:spcBef>
                <a:spcPts val="95"/>
              </a:spcBef>
            </a:pPr>
            <a:r>
              <a:rPr sz="3050" spc="120" dirty="0">
                <a:latin typeface="Tahoma"/>
                <a:cs typeface="Tahoma"/>
              </a:rPr>
              <a:t>Adding</a:t>
            </a:r>
            <a:r>
              <a:rPr sz="3050" spc="-150" dirty="0">
                <a:latin typeface="Tahoma"/>
                <a:cs typeface="Tahoma"/>
              </a:rPr>
              <a:t> </a:t>
            </a:r>
            <a:r>
              <a:rPr sz="3050" spc="95" dirty="0">
                <a:latin typeface="Tahoma"/>
                <a:cs typeface="Tahoma"/>
              </a:rPr>
              <a:t>a</a:t>
            </a:r>
            <a:r>
              <a:rPr sz="3050" spc="-150" dirty="0">
                <a:latin typeface="Tahoma"/>
                <a:cs typeface="Tahoma"/>
              </a:rPr>
              <a:t> </a:t>
            </a:r>
            <a:r>
              <a:rPr sz="3050" spc="165" dirty="0">
                <a:latin typeface="Tahoma"/>
                <a:cs typeface="Tahoma"/>
              </a:rPr>
              <a:t>node</a:t>
            </a:r>
            <a:r>
              <a:rPr sz="3050" spc="-145" dirty="0">
                <a:latin typeface="Tahoma"/>
                <a:cs typeface="Tahoma"/>
              </a:rPr>
              <a:t> </a:t>
            </a:r>
            <a:r>
              <a:rPr sz="3050" spc="130" dirty="0">
                <a:latin typeface="Tahoma"/>
                <a:cs typeface="Tahoma"/>
              </a:rPr>
              <a:t>to</a:t>
            </a:r>
            <a:r>
              <a:rPr sz="3050" spc="-150" dirty="0">
                <a:latin typeface="Tahoma"/>
                <a:cs typeface="Tahoma"/>
              </a:rPr>
              <a:t> </a:t>
            </a:r>
            <a:r>
              <a:rPr sz="3050" spc="114" dirty="0">
                <a:latin typeface="Tahoma"/>
                <a:cs typeface="Tahoma"/>
              </a:rPr>
              <a:t>the</a:t>
            </a:r>
            <a:r>
              <a:rPr sz="3050" spc="-145" dirty="0">
                <a:latin typeface="Tahoma"/>
                <a:cs typeface="Tahoma"/>
              </a:rPr>
              <a:t> </a:t>
            </a:r>
            <a:r>
              <a:rPr sz="3050" spc="110" dirty="0">
                <a:latin typeface="Tahoma"/>
                <a:cs typeface="Tahoma"/>
              </a:rPr>
              <a:t>Linked</a:t>
            </a:r>
            <a:r>
              <a:rPr sz="3050" spc="-150" dirty="0">
                <a:latin typeface="Tahoma"/>
                <a:cs typeface="Tahoma"/>
              </a:rPr>
              <a:t> </a:t>
            </a:r>
            <a:r>
              <a:rPr sz="3050" spc="60" dirty="0">
                <a:latin typeface="Tahoma"/>
                <a:cs typeface="Tahoma"/>
              </a:rPr>
              <a:t>List </a:t>
            </a:r>
            <a:r>
              <a:rPr sz="3050" spc="75" dirty="0">
                <a:latin typeface="Tahoma"/>
                <a:cs typeface="Tahoma"/>
              </a:rPr>
              <a:t>at</a:t>
            </a:r>
            <a:r>
              <a:rPr sz="3050" spc="-145" dirty="0">
                <a:latin typeface="Tahoma"/>
                <a:cs typeface="Tahoma"/>
              </a:rPr>
              <a:t> </a:t>
            </a:r>
            <a:r>
              <a:rPr sz="3050" spc="95" dirty="0">
                <a:latin typeface="Tahoma"/>
                <a:cs typeface="Tahoma"/>
              </a:rPr>
              <a:t>a</a:t>
            </a:r>
            <a:r>
              <a:rPr sz="3050" spc="-145" dirty="0">
                <a:latin typeface="Tahoma"/>
                <a:cs typeface="Tahoma"/>
              </a:rPr>
              <a:t> </a:t>
            </a:r>
            <a:r>
              <a:rPr sz="3050" spc="-229" dirty="0">
                <a:latin typeface="Arial Black"/>
                <a:cs typeface="Arial Black"/>
              </a:rPr>
              <a:t>specific</a:t>
            </a:r>
            <a:r>
              <a:rPr sz="3050" spc="-210" dirty="0">
                <a:latin typeface="Arial Black"/>
                <a:cs typeface="Arial Black"/>
              </a:rPr>
              <a:t> </a:t>
            </a:r>
            <a:r>
              <a:rPr sz="3050" spc="120" dirty="0">
                <a:latin typeface="Tahoma"/>
                <a:cs typeface="Tahoma"/>
              </a:rPr>
              <a:t>position</a:t>
            </a:r>
            <a:endParaRPr sz="30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03582" y="434850"/>
            <a:ext cx="5184775" cy="12134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400" spc="120" dirty="0">
                <a:solidFill>
                  <a:srgbClr val="C00000"/>
                </a:solidFill>
                <a:latin typeface="Tahoma"/>
                <a:cs typeface="Tahoma"/>
              </a:rPr>
              <a:t>Insert</a:t>
            </a:r>
            <a:r>
              <a:rPr sz="7800" spc="-805" dirty="0">
                <a:solidFill>
                  <a:srgbClr val="ED81ED"/>
                </a:solidFill>
                <a:latin typeface="Arial MT"/>
                <a:cs typeface="Arial MT"/>
              </a:rPr>
              <a:t> </a:t>
            </a:r>
            <a:r>
              <a:rPr sz="4400" spc="120" dirty="0">
                <a:solidFill>
                  <a:srgbClr val="C00000"/>
                </a:solidFill>
                <a:latin typeface="Tahoma"/>
                <a:cs typeface="Tahoma"/>
              </a:rPr>
              <a:t>pseudocode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32464" y="1759603"/>
            <a:ext cx="8149590" cy="40303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1445">
              <a:lnSpc>
                <a:spcPct val="108300"/>
              </a:lnSpc>
              <a:spcBef>
                <a:spcPts val="100"/>
              </a:spcBef>
            </a:pPr>
            <a:r>
              <a:rPr sz="2200" spc="-90" dirty="0">
                <a:latin typeface="Tahoma"/>
                <a:cs typeface="Tahoma"/>
              </a:rPr>
              <a:t>If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index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spc="50" dirty="0">
                <a:latin typeface="Tahoma"/>
                <a:cs typeface="Tahoma"/>
              </a:rPr>
              <a:t>is</a:t>
            </a:r>
            <a:r>
              <a:rPr sz="2200" spc="-85" dirty="0">
                <a:latin typeface="Tahoma"/>
                <a:cs typeface="Tahoma"/>
              </a:rPr>
              <a:t> </a:t>
            </a:r>
            <a:r>
              <a:rPr sz="2200" spc="50" dirty="0">
                <a:latin typeface="Tahoma"/>
                <a:cs typeface="Tahoma"/>
              </a:rPr>
              <a:t>less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spc="85" dirty="0">
                <a:latin typeface="Tahoma"/>
                <a:cs typeface="Tahoma"/>
              </a:rPr>
              <a:t>than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zero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spc="105" dirty="0">
                <a:latin typeface="Tahoma"/>
                <a:cs typeface="Tahoma"/>
              </a:rPr>
              <a:t>or</a:t>
            </a:r>
            <a:r>
              <a:rPr sz="2200" spc="-85" dirty="0">
                <a:latin typeface="Tahoma"/>
                <a:cs typeface="Tahoma"/>
              </a:rPr>
              <a:t> </a:t>
            </a:r>
            <a:r>
              <a:rPr sz="2200" spc="55" dirty="0">
                <a:latin typeface="Tahoma"/>
                <a:cs typeface="Tahoma"/>
              </a:rPr>
              <a:t>greater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spc="85" dirty="0">
                <a:latin typeface="Tahoma"/>
                <a:cs typeface="Tahoma"/>
              </a:rPr>
              <a:t>than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length,</a:t>
            </a:r>
            <a:r>
              <a:rPr sz="2200" spc="-85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return </a:t>
            </a:r>
            <a:r>
              <a:rPr sz="2200" spc="40" dirty="0">
                <a:latin typeface="Tahoma"/>
                <a:cs typeface="Tahoma"/>
              </a:rPr>
              <a:t>false</a:t>
            </a:r>
            <a:endParaRPr sz="2200" dirty="0">
              <a:latin typeface="Tahoma"/>
              <a:cs typeface="Tahoma"/>
            </a:endParaRPr>
          </a:p>
          <a:p>
            <a:pPr marL="12700" marR="159385">
              <a:lnSpc>
                <a:spcPct val="108300"/>
              </a:lnSpc>
            </a:pPr>
            <a:r>
              <a:rPr sz="2200" spc="-90" dirty="0">
                <a:latin typeface="Tahoma"/>
                <a:cs typeface="Tahoma"/>
              </a:rPr>
              <a:t>If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index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50" dirty="0">
                <a:latin typeface="Tahoma"/>
                <a:cs typeface="Tahoma"/>
              </a:rPr>
              <a:t>is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spc="90" dirty="0">
                <a:latin typeface="Tahoma"/>
                <a:cs typeface="Tahoma"/>
              </a:rPr>
              <a:t>same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60" dirty="0">
                <a:latin typeface="Tahoma"/>
                <a:cs typeface="Tahoma"/>
              </a:rPr>
              <a:t>as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length,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100" dirty="0">
                <a:latin typeface="Tahoma"/>
                <a:cs typeface="Tahoma"/>
              </a:rPr>
              <a:t>push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a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new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105" dirty="0">
                <a:latin typeface="Tahoma"/>
                <a:cs typeface="Tahoma"/>
              </a:rPr>
              <a:t>node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to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45" dirty="0">
                <a:latin typeface="Tahoma"/>
                <a:cs typeface="Tahoma"/>
              </a:rPr>
              <a:t>the </a:t>
            </a:r>
            <a:r>
              <a:rPr sz="2200" spc="105" dirty="0">
                <a:latin typeface="Tahoma"/>
                <a:cs typeface="Tahoma"/>
              </a:rPr>
              <a:t>end</a:t>
            </a:r>
            <a:r>
              <a:rPr sz="2200" spc="-114" dirty="0">
                <a:latin typeface="Tahoma"/>
                <a:cs typeface="Tahoma"/>
              </a:rPr>
              <a:t> </a:t>
            </a:r>
            <a:r>
              <a:rPr sz="2200" spc="85" dirty="0">
                <a:latin typeface="Tahoma"/>
                <a:cs typeface="Tahoma"/>
              </a:rPr>
              <a:t>of</a:t>
            </a:r>
            <a:r>
              <a:rPr sz="2200" spc="-114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114" dirty="0">
                <a:latin typeface="Tahoma"/>
                <a:cs typeface="Tahoma"/>
              </a:rPr>
              <a:t> </a:t>
            </a:r>
            <a:r>
              <a:rPr sz="2200" spc="-20" dirty="0">
                <a:latin typeface="Tahoma"/>
                <a:cs typeface="Tahoma"/>
              </a:rPr>
              <a:t>list</a:t>
            </a:r>
            <a:endParaRPr sz="2200" dirty="0">
              <a:latin typeface="Tahoma"/>
              <a:cs typeface="Tahoma"/>
            </a:endParaRPr>
          </a:p>
          <a:p>
            <a:pPr marL="12700" marR="5080">
              <a:lnSpc>
                <a:spcPct val="108300"/>
              </a:lnSpc>
            </a:pPr>
            <a:r>
              <a:rPr sz="2200" spc="-90" dirty="0">
                <a:latin typeface="Tahoma"/>
                <a:cs typeface="Tahoma"/>
              </a:rPr>
              <a:t>If</a:t>
            </a:r>
            <a:r>
              <a:rPr sz="2200" spc="-120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114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index</a:t>
            </a:r>
            <a:r>
              <a:rPr sz="2200" spc="-114" dirty="0">
                <a:latin typeface="Tahoma"/>
                <a:cs typeface="Tahoma"/>
              </a:rPr>
              <a:t> </a:t>
            </a:r>
            <a:r>
              <a:rPr sz="2200" spc="50" dirty="0">
                <a:latin typeface="Tahoma"/>
                <a:cs typeface="Tahoma"/>
              </a:rPr>
              <a:t>is</a:t>
            </a:r>
            <a:r>
              <a:rPr sz="2200" spc="-114" dirty="0">
                <a:latin typeface="Tahoma"/>
                <a:cs typeface="Tahoma"/>
              </a:rPr>
              <a:t> </a:t>
            </a:r>
            <a:r>
              <a:rPr sz="2200" spc="-30" dirty="0">
                <a:latin typeface="Tahoma"/>
                <a:cs typeface="Tahoma"/>
              </a:rPr>
              <a:t>0,</a:t>
            </a:r>
            <a:r>
              <a:rPr sz="2200" spc="-114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unshift</a:t>
            </a:r>
            <a:r>
              <a:rPr sz="2200" spc="-114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a</a:t>
            </a:r>
            <a:r>
              <a:rPr sz="2200" spc="-114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new</a:t>
            </a:r>
            <a:r>
              <a:rPr sz="2200" spc="-114" dirty="0">
                <a:latin typeface="Tahoma"/>
                <a:cs typeface="Tahoma"/>
              </a:rPr>
              <a:t> </a:t>
            </a:r>
            <a:r>
              <a:rPr sz="2200" spc="105" dirty="0">
                <a:latin typeface="Tahoma"/>
                <a:cs typeface="Tahoma"/>
              </a:rPr>
              <a:t>node</a:t>
            </a:r>
            <a:r>
              <a:rPr sz="2200" spc="-114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to</a:t>
            </a:r>
            <a:r>
              <a:rPr sz="2200" spc="-114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114" dirty="0">
                <a:latin typeface="Tahoma"/>
                <a:cs typeface="Tahoma"/>
              </a:rPr>
              <a:t> </a:t>
            </a:r>
            <a:r>
              <a:rPr sz="2200" spc="60" dirty="0">
                <a:latin typeface="Tahoma"/>
                <a:cs typeface="Tahoma"/>
              </a:rPr>
              <a:t>start</a:t>
            </a:r>
            <a:r>
              <a:rPr sz="2200" spc="-114" dirty="0">
                <a:latin typeface="Tahoma"/>
                <a:cs typeface="Tahoma"/>
              </a:rPr>
              <a:t> </a:t>
            </a:r>
            <a:r>
              <a:rPr sz="2200" spc="85" dirty="0">
                <a:latin typeface="Tahoma"/>
                <a:cs typeface="Tahoma"/>
              </a:rPr>
              <a:t>of</a:t>
            </a:r>
            <a:r>
              <a:rPr sz="2200" spc="-114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114" dirty="0">
                <a:latin typeface="Tahoma"/>
                <a:cs typeface="Tahoma"/>
              </a:rPr>
              <a:t> </a:t>
            </a:r>
            <a:r>
              <a:rPr sz="2200" spc="-20" dirty="0">
                <a:latin typeface="Tahoma"/>
                <a:cs typeface="Tahoma"/>
              </a:rPr>
              <a:t>list </a:t>
            </a:r>
            <a:r>
              <a:rPr sz="2200" spc="60" dirty="0">
                <a:latin typeface="Tahoma"/>
                <a:cs typeface="Tahoma"/>
              </a:rPr>
              <a:t>Otherwise,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60" dirty="0">
                <a:latin typeface="Tahoma"/>
                <a:cs typeface="Tahoma"/>
              </a:rPr>
              <a:t>using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spc="-145" dirty="0">
                <a:latin typeface="Arial Black"/>
                <a:cs typeface="Arial Black"/>
              </a:rPr>
              <a:t>get </a:t>
            </a:r>
            <a:r>
              <a:rPr sz="2200" spc="80" dirty="0">
                <a:latin typeface="Tahoma"/>
                <a:cs typeface="Tahoma"/>
              </a:rPr>
              <a:t>method,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spc="50" dirty="0">
                <a:latin typeface="Tahoma"/>
                <a:cs typeface="Tahoma"/>
              </a:rPr>
              <a:t>access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105" dirty="0">
                <a:latin typeface="Tahoma"/>
                <a:cs typeface="Tahoma"/>
              </a:rPr>
              <a:t>node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at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index</a:t>
            </a:r>
            <a:endParaRPr sz="22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2200" spc="-105" dirty="0">
                <a:latin typeface="Tahoma"/>
                <a:cs typeface="Tahoma"/>
              </a:rPr>
              <a:t>-</a:t>
            </a:r>
            <a:r>
              <a:rPr sz="2200" spc="-114" dirty="0">
                <a:latin typeface="Tahoma"/>
                <a:cs typeface="Tahoma"/>
              </a:rPr>
              <a:t> </a:t>
            </a:r>
            <a:r>
              <a:rPr sz="2200" spc="-50" dirty="0">
                <a:latin typeface="Tahoma"/>
                <a:cs typeface="Tahoma"/>
              </a:rPr>
              <a:t>1</a:t>
            </a:r>
            <a:endParaRPr sz="22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2200" dirty="0">
                <a:latin typeface="Tahoma"/>
                <a:cs typeface="Tahoma"/>
              </a:rPr>
              <a:t>Set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55" dirty="0">
                <a:latin typeface="Tahoma"/>
                <a:cs typeface="Tahoma"/>
              </a:rPr>
              <a:t>next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property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120" dirty="0">
                <a:latin typeface="Tahoma"/>
                <a:cs typeface="Tahoma"/>
              </a:rPr>
              <a:t>on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that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105" dirty="0">
                <a:latin typeface="Tahoma"/>
                <a:cs typeface="Tahoma"/>
              </a:rPr>
              <a:t>node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to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95" dirty="0">
                <a:latin typeface="Tahoma"/>
                <a:cs typeface="Tahoma"/>
              </a:rPr>
              <a:t>be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new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85" dirty="0">
                <a:latin typeface="Tahoma"/>
                <a:cs typeface="Tahoma"/>
              </a:rPr>
              <a:t>node</a:t>
            </a:r>
            <a:endParaRPr sz="2200" dirty="0">
              <a:latin typeface="Tahoma"/>
              <a:cs typeface="Tahoma"/>
            </a:endParaRPr>
          </a:p>
          <a:p>
            <a:pPr marL="12700" marR="49530">
              <a:lnSpc>
                <a:spcPct val="108300"/>
              </a:lnSpc>
            </a:pPr>
            <a:r>
              <a:rPr sz="2200" dirty="0">
                <a:latin typeface="Tahoma"/>
                <a:cs typeface="Tahoma"/>
              </a:rPr>
              <a:t>Set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55" dirty="0">
                <a:latin typeface="Tahoma"/>
                <a:cs typeface="Tahoma"/>
              </a:rPr>
              <a:t>next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property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120" dirty="0">
                <a:latin typeface="Tahoma"/>
                <a:cs typeface="Tahoma"/>
              </a:rPr>
              <a:t>on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new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105" dirty="0">
                <a:latin typeface="Tahoma"/>
                <a:cs typeface="Tahoma"/>
              </a:rPr>
              <a:t>node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to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95" dirty="0">
                <a:latin typeface="Tahoma"/>
                <a:cs typeface="Tahoma"/>
              </a:rPr>
              <a:t>be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previous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35" dirty="0">
                <a:latin typeface="Tahoma"/>
                <a:cs typeface="Tahoma"/>
              </a:rPr>
              <a:t>next </a:t>
            </a:r>
            <a:r>
              <a:rPr sz="2200" spc="50" dirty="0">
                <a:latin typeface="Tahoma"/>
                <a:cs typeface="Tahoma"/>
              </a:rPr>
              <a:t>Increment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spc="50" dirty="0">
                <a:latin typeface="Tahoma"/>
                <a:cs typeface="Tahoma"/>
              </a:rPr>
              <a:t>length</a:t>
            </a:r>
            <a:endParaRPr sz="22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2200" spc="75" dirty="0">
                <a:latin typeface="Tahoma"/>
                <a:cs typeface="Tahoma"/>
              </a:rPr>
              <a:t>Return</a:t>
            </a:r>
            <a:r>
              <a:rPr sz="2200" spc="-114" dirty="0">
                <a:latin typeface="Tahoma"/>
                <a:cs typeface="Tahoma"/>
              </a:rPr>
              <a:t> </a:t>
            </a:r>
            <a:r>
              <a:rPr sz="2200" spc="55" dirty="0">
                <a:latin typeface="Tahoma"/>
                <a:cs typeface="Tahoma"/>
              </a:rPr>
              <a:t>true</a:t>
            </a:r>
            <a:endParaRPr lang="en-US" sz="2200" spc="55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84559" y="1930526"/>
            <a:ext cx="102380" cy="10237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84559" y="2656495"/>
            <a:ext cx="102380" cy="10238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84559" y="3382463"/>
            <a:ext cx="102380" cy="10237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84559" y="3745447"/>
            <a:ext cx="102380" cy="10237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84559" y="4471415"/>
            <a:ext cx="102380" cy="10237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84559" y="4834399"/>
            <a:ext cx="102380" cy="10237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84559" y="5197383"/>
            <a:ext cx="102380" cy="10237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84559" y="5560368"/>
            <a:ext cx="102380" cy="1023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4404764" y="872292"/>
            <a:ext cx="3382471" cy="773233"/>
          </a:xfrm>
          <a:prstGeom prst="rect">
            <a:avLst/>
          </a:prstGeom>
        </p:spPr>
        <p:txBody>
          <a:bodyPr vert="horz" wrap="square" lIns="0" tIns="95195" rIns="0" bIns="0" rtlCol="0">
            <a:spAutoFit/>
          </a:bodyPr>
          <a:lstStyle/>
          <a:p>
            <a:pPr marL="556260">
              <a:lnSpc>
                <a:spcPct val="100000"/>
              </a:lnSpc>
              <a:spcBef>
                <a:spcPts val="90"/>
              </a:spcBef>
            </a:pPr>
            <a:r>
              <a:rPr sz="4400" spc="120" dirty="0">
                <a:solidFill>
                  <a:srgbClr val="C00000"/>
                </a:solidFill>
                <a:latin typeface="Tahoma"/>
                <a:cs typeface="Tahoma"/>
              </a:rPr>
              <a:t>Remove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61684" y="3261798"/>
            <a:ext cx="5868670" cy="10496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500380">
              <a:lnSpc>
                <a:spcPct val="110100"/>
              </a:lnSpc>
              <a:spcBef>
                <a:spcPts val="95"/>
              </a:spcBef>
            </a:pPr>
            <a:r>
              <a:rPr sz="3050" spc="100" dirty="0">
                <a:latin typeface="Tahoma"/>
                <a:cs typeface="Tahoma"/>
              </a:rPr>
              <a:t>Removing</a:t>
            </a:r>
            <a:r>
              <a:rPr sz="3050" spc="-145" dirty="0">
                <a:latin typeface="Tahoma"/>
                <a:cs typeface="Tahoma"/>
              </a:rPr>
              <a:t> </a:t>
            </a:r>
            <a:r>
              <a:rPr sz="3050" spc="95" dirty="0">
                <a:latin typeface="Tahoma"/>
                <a:cs typeface="Tahoma"/>
              </a:rPr>
              <a:t>a</a:t>
            </a:r>
            <a:r>
              <a:rPr sz="3050" spc="-145" dirty="0">
                <a:latin typeface="Tahoma"/>
                <a:cs typeface="Tahoma"/>
              </a:rPr>
              <a:t> </a:t>
            </a:r>
            <a:r>
              <a:rPr sz="3050" spc="165" dirty="0">
                <a:latin typeface="Tahoma"/>
                <a:cs typeface="Tahoma"/>
              </a:rPr>
              <a:t>node</a:t>
            </a:r>
            <a:r>
              <a:rPr sz="3050" spc="-145" dirty="0">
                <a:latin typeface="Tahoma"/>
                <a:cs typeface="Tahoma"/>
              </a:rPr>
              <a:t> </a:t>
            </a:r>
            <a:r>
              <a:rPr sz="3050" spc="160" dirty="0">
                <a:latin typeface="Tahoma"/>
                <a:cs typeface="Tahoma"/>
              </a:rPr>
              <a:t>from</a:t>
            </a:r>
            <a:r>
              <a:rPr sz="3050" spc="-145" dirty="0">
                <a:latin typeface="Tahoma"/>
                <a:cs typeface="Tahoma"/>
              </a:rPr>
              <a:t> </a:t>
            </a:r>
            <a:r>
              <a:rPr sz="3050" spc="90" dirty="0">
                <a:latin typeface="Tahoma"/>
                <a:cs typeface="Tahoma"/>
              </a:rPr>
              <a:t>the </a:t>
            </a:r>
            <a:r>
              <a:rPr sz="3050" spc="110" dirty="0">
                <a:latin typeface="Tahoma"/>
                <a:cs typeface="Tahoma"/>
              </a:rPr>
              <a:t>Linked</a:t>
            </a:r>
            <a:r>
              <a:rPr sz="3050" spc="-150" dirty="0">
                <a:latin typeface="Tahoma"/>
                <a:cs typeface="Tahoma"/>
              </a:rPr>
              <a:t> </a:t>
            </a:r>
            <a:r>
              <a:rPr sz="3050" spc="80" dirty="0">
                <a:latin typeface="Tahoma"/>
                <a:cs typeface="Tahoma"/>
              </a:rPr>
              <a:t>List</a:t>
            </a:r>
            <a:r>
              <a:rPr sz="3050" spc="-145" dirty="0">
                <a:latin typeface="Tahoma"/>
                <a:cs typeface="Tahoma"/>
              </a:rPr>
              <a:t> </a:t>
            </a:r>
            <a:r>
              <a:rPr sz="3050" spc="75" dirty="0">
                <a:latin typeface="Tahoma"/>
                <a:cs typeface="Tahoma"/>
              </a:rPr>
              <a:t>at</a:t>
            </a:r>
            <a:r>
              <a:rPr sz="3050" spc="-150" dirty="0">
                <a:latin typeface="Tahoma"/>
                <a:cs typeface="Tahoma"/>
              </a:rPr>
              <a:t> </a:t>
            </a:r>
            <a:r>
              <a:rPr sz="3050" spc="95" dirty="0">
                <a:latin typeface="Tahoma"/>
                <a:cs typeface="Tahoma"/>
              </a:rPr>
              <a:t>a</a:t>
            </a:r>
            <a:r>
              <a:rPr sz="3050" spc="-145" dirty="0">
                <a:latin typeface="Tahoma"/>
                <a:cs typeface="Tahoma"/>
              </a:rPr>
              <a:t> </a:t>
            </a:r>
            <a:r>
              <a:rPr sz="3050" spc="-229" dirty="0">
                <a:latin typeface="Arial Black"/>
                <a:cs typeface="Arial Black"/>
              </a:rPr>
              <a:t>specific</a:t>
            </a:r>
            <a:r>
              <a:rPr sz="3050" spc="-210" dirty="0">
                <a:latin typeface="Arial Black"/>
                <a:cs typeface="Arial Black"/>
              </a:rPr>
              <a:t> </a:t>
            </a:r>
            <a:r>
              <a:rPr sz="3050" spc="120" dirty="0">
                <a:latin typeface="Tahoma"/>
                <a:cs typeface="Tahoma"/>
              </a:rPr>
              <a:t>position</a:t>
            </a:r>
            <a:endParaRPr sz="30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93096" y="304548"/>
            <a:ext cx="5805805" cy="12134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400" spc="120" dirty="0">
                <a:solidFill>
                  <a:srgbClr val="C00000"/>
                </a:solidFill>
                <a:latin typeface="Tahoma"/>
                <a:cs typeface="Tahoma"/>
              </a:rPr>
              <a:t>Remove</a:t>
            </a:r>
            <a:r>
              <a:rPr sz="7800" spc="-1000" dirty="0">
                <a:solidFill>
                  <a:srgbClr val="ED81ED"/>
                </a:solidFill>
              </a:rPr>
              <a:t> </a:t>
            </a:r>
            <a:r>
              <a:rPr sz="4400" spc="120" dirty="0">
                <a:solidFill>
                  <a:srgbClr val="C00000"/>
                </a:solidFill>
                <a:latin typeface="Tahoma"/>
                <a:cs typeface="Tahoma"/>
              </a:rPr>
              <a:t>pseudocode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90687" y="1666530"/>
            <a:ext cx="7366634" cy="40431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41300">
              <a:lnSpc>
                <a:spcPct val="108300"/>
              </a:lnSpc>
              <a:spcBef>
                <a:spcPts val="100"/>
              </a:spcBef>
            </a:pPr>
            <a:r>
              <a:rPr sz="2200" spc="-90" dirty="0">
                <a:latin typeface="Tahoma"/>
                <a:cs typeface="Tahoma"/>
              </a:rPr>
              <a:t>If</a:t>
            </a:r>
            <a:r>
              <a:rPr sz="2200" spc="-114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index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50" dirty="0">
                <a:latin typeface="Tahoma"/>
                <a:cs typeface="Tahoma"/>
              </a:rPr>
              <a:t>is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50" dirty="0">
                <a:latin typeface="Tahoma"/>
                <a:cs typeface="Tahoma"/>
              </a:rPr>
              <a:t>less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85" dirty="0">
                <a:latin typeface="Tahoma"/>
                <a:cs typeface="Tahoma"/>
              </a:rPr>
              <a:t>than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zero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105" dirty="0">
                <a:latin typeface="Tahoma"/>
                <a:cs typeface="Tahoma"/>
              </a:rPr>
              <a:t>or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55" dirty="0">
                <a:latin typeface="Tahoma"/>
                <a:cs typeface="Tahoma"/>
              </a:rPr>
              <a:t>greater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85" dirty="0">
                <a:latin typeface="Tahoma"/>
                <a:cs typeface="Tahoma"/>
              </a:rPr>
              <a:t>than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length, </a:t>
            </a:r>
            <a:r>
              <a:rPr sz="2200" spc="85" dirty="0">
                <a:latin typeface="Tahoma"/>
                <a:cs typeface="Tahoma"/>
              </a:rPr>
              <a:t>return</a:t>
            </a:r>
            <a:r>
              <a:rPr sz="2200" spc="-114" dirty="0">
                <a:latin typeface="Tahoma"/>
                <a:cs typeface="Tahoma"/>
              </a:rPr>
              <a:t> </a:t>
            </a:r>
            <a:r>
              <a:rPr sz="2200" spc="80" dirty="0">
                <a:latin typeface="Tahoma"/>
                <a:cs typeface="Tahoma"/>
              </a:rPr>
              <a:t>undefined</a:t>
            </a:r>
            <a:endParaRPr sz="2200" dirty="0">
              <a:latin typeface="Tahoma"/>
              <a:cs typeface="Tahoma"/>
            </a:endParaRPr>
          </a:p>
          <a:p>
            <a:pPr marL="12700" marR="1683385">
              <a:lnSpc>
                <a:spcPct val="108300"/>
              </a:lnSpc>
            </a:pPr>
            <a:r>
              <a:rPr sz="2200" spc="-90" dirty="0">
                <a:latin typeface="Tahoma"/>
                <a:cs typeface="Tahoma"/>
              </a:rPr>
              <a:t>If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index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50" dirty="0">
                <a:latin typeface="Tahoma"/>
                <a:cs typeface="Tahoma"/>
              </a:rPr>
              <a:t>is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90" dirty="0">
                <a:latin typeface="Tahoma"/>
                <a:cs typeface="Tahoma"/>
              </a:rPr>
              <a:t>same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60" dirty="0">
                <a:latin typeface="Tahoma"/>
                <a:cs typeface="Tahoma"/>
              </a:rPr>
              <a:t>as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length-1,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95" dirty="0">
                <a:latin typeface="Tahoma"/>
                <a:cs typeface="Tahoma"/>
              </a:rPr>
              <a:t>pop </a:t>
            </a:r>
            <a:r>
              <a:rPr sz="2200" spc="-90" dirty="0">
                <a:latin typeface="Tahoma"/>
                <a:cs typeface="Tahoma"/>
              </a:rPr>
              <a:t>If</a:t>
            </a:r>
            <a:r>
              <a:rPr sz="2200" spc="-120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114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index</a:t>
            </a:r>
            <a:r>
              <a:rPr sz="2200" spc="-120" dirty="0">
                <a:latin typeface="Tahoma"/>
                <a:cs typeface="Tahoma"/>
              </a:rPr>
              <a:t> </a:t>
            </a:r>
            <a:r>
              <a:rPr sz="2200" spc="50" dirty="0">
                <a:latin typeface="Tahoma"/>
                <a:cs typeface="Tahoma"/>
              </a:rPr>
              <a:t>is</a:t>
            </a:r>
            <a:r>
              <a:rPr sz="2200" spc="-114" dirty="0">
                <a:latin typeface="Tahoma"/>
                <a:cs typeface="Tahoma"/>
              </a:rPr>
              <a:t> </a:t>
            </a:r>
            <a:r>
              <a:rPr sz="2200" spc="-30" dirty="0">
                <a:latin typeface="Tahoma"/>
                <a:cs typeface="Tahoma"/>
              </a:rPr>
              <a:t>0,</a:t>
            </a:r>
            <a:r>
              <a:rPr sz="2200" spc="-120" dirty="0">
                <a:latin typeface="Tahoma"/>
                <a:cs typeface="Tahoma"/>
              </a:rPr>
              <a:t> </a:t>
            </a:r>
            <a:r>
              <a:rPr sz="2200" spc="45" dirty="0">
                <a:latin typeface="Tahoma"/>
                <a:cs typeface="Tahoma"/>
              </a:rPr>
              <a:t>shift</a:t>
            </a:r>
            <a:endParaRPr sz="2200" dirty="0">
              <a:latin typeface="Tahoma"/>
              <a:cs typeface="Tahoma"/>
            </a:endParaRPr>
          </a:p>
          <a:p>
            <a:pPr marL="12700" marR="5080">
              <a:lnSpc>
                <a:spcPct val="108300"/>
              </a:lnSpc>
            </a:pPr>
            <a:r>
              <a:rPr sz="2200" spc="60" dirty="0">
                <a:latin typeface="Tahoma"/>
                <a:cs typeface="Tahoma"/>
              </a:rPr>
              <a:t>Otherwise,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spc="60" dirty="0">
                <a:latin typeface="Tahoma"/>
                <a:cs typeface="Tahoma"/>
              </a:rPr>
              <a:t>using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spc="-145" dirty="0">
                <a:latin typeface="Arial Black"/>
                <a:cs typeface="Arial Black"/>
              </a:rPr>
              <a:t>get </a:t>
            </a:r>
            <a:r>
              <a:rPr sz="2200" spc="80" dirty="0">
                <a:latin typeface="Tahoma"/>
                <a:cs typeface="Tahoma"/>
              </a:rPr>
              <a:t>method,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spc="50" dirty="0">
                <a:latin typeface="Tahoma"/>
                <a:cs typeface="Tahoma"/>
              </a:rPr>
              <a:t>access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spc="105" dirty="0">
                <a:latin typeface="Tahoma"/>
                <a:cs typeface="Tahoma"/>
              </a:rPr>
              <a:t>node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at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spc="45" dirty="0">
                <a:latin typeface="Tahoma"/>
                <a:cs typeface="Tahoma"/>
              </a:rPr>
              <a:t>the </a:t>
            </a:r>
            <a:r>
              <a:rPr sz="2200" spc="75" dirty="0">
                <a:latin typeface="Tahoma"/>
                <a:cs typeface="Tahoma"/>
              </a:rPr>
              <a:t>index</a:t>
            </a:r>
            <a:r>
              <a:rPr sz="2200" spc="-114" dirty="0">
                <a:latin typeface="Tahoma"/>
                <a:cs typeface="Tahoma"/>
              </a:rPr>
              <a:t> </a:t>
            </a:r>
            <a:r>
              <a:rPr sz="2200" spc="-105" dirty="0">
                <a:latin typeface="Tahoma"/>
                <a:cs typeface="Tahoma"/>
              </a:rPr>
              <a:t>-</a:t>
            </a:r>
            <a:r>
              <a:rPr sz="2200" spc="-114" dirty="0">
                <a:latin typeface="Tahoma"/>
                <a:cs typeface="Tahoma"/>
              </a:rPr>
              <a:t> </a:t>
            </a:r>
            <a:r>
              <a:rPr sz="2200" spc="-50" dirty="0">
                <a:latin typeface="Tahoma"/>
                <a:cs typeface="Tahoma"/>
              </a:rPr>
              <a:t>1</a:t>
            </a:r>
            <a:endParaRPr sz="2200" dirty="0">
              <a:latin typeface="Tahoma"/>
              <a:cs typeface="Tahoma"/>
            </a:endParaRPr>
          </a:p>
          <a:p>
            <a:pPr marL="12700" marR="133350">
              <a:lnSpc>
                <a:spcPct val="108300"/>
              </a:lnSpc>
            </a:pPr>
            <a:r>
              <a:rPr sz="2200" dirty="0">
                <a:latin typeface="Tahoma"/>
                <a:cs typeface="Tahoma"/>
              </a:rPr>
              <a:t>Set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55" dirty="0">
                <a:latin typeface="Tahoma"/>
                <a:cs typeface="Tahoma"/>
              </a:rPr>
              <a:t>next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property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120" dirty="0">
                <a:latin typeface="Tahoma"/>
                <a:cs typeface="Tahoma"/>
              </a:rPr>
              <a:t>on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that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105" dirty="0">
                <a:latin typeface="Tahoma"/>
                <a:cs typeface="Tahoma"/>
              </a:rPr>
              <a:t>node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to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95" dirty="0">
                <a:latin typeface="Tahoma"/>
                <a:cs typeface="Tahoma"/>
              </a:rPr>
              <a:t>be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55" dirty="0">
                <a:latin typeface="Tahoma"/>
                <a:cs typeface="Tahoma"/>
              </a:rPr>
              <a:t>next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85" dirty="0">
                <a:latin typeface="Tahoma"/>
                <a:cs typeface="Tahoma"/>
              </a:rPr>
              <a:t>of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45" dirty="0">
                <a:latin typeface="Tahoma"/>
                <a:cs typeface="Tahoma"/>
              </a:rPr>
              <a:t>the </a:t>
            </a:r>
            <a:r>
              <a:rPr sz="2200" spc="55" dirty="0">
                <a:latin typeface="Tahoma"/>
                <a:cs typeface="Tahoma"/>
              </a:rPr>
              <a:t>next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85" dirty="0">
                <a:latin typeface="Tahoma"/>
                <a:cs typeface="Tahoma"/>
              </a:rPr>
              <a:t>node</a:t>
            </a:r>
            <a:endParaRPr sz="22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2200" spc="80" dirty="0">
                <a:latin typeface="Tahoma"/>
                <a:cs typeface="Tahoma"/>
              </a:rPr>
              <a:t>Decrement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50" dirty="0">
                <a:latin typeface="Tahoma"/>
                <a:cs typeface="Tahoma"/>
              </a:rPr>
              <a:t>length</a:t>
            </a:r>
            <a:endParaRPr sz="22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2200" spc="75" dirty="0">
                <a:latin typeface="Tahoma"/>
                <a:cs typeface="Tahoma"/>
              </a:rPr>
              <a:t>Return</a:t>
            </a:r>
            <a:r>
              <a:rPr sz="2200" spc="-114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114" dirty="0">
                <a:latin typeface="Tahoma"/>
                <a:cs typeface="Tahoma"/>
              </a:rPr>
              <a:t> </a:t>
            </a:r>
            <a:r>
              <a:rPr sz="2200" spc="60" dirty="0">
                <a:latin typeface="Tahoma"/>
                <a:cs typeface="Tahoma"/>
              </a:rPr>
              <a:t>value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85" dirty="0">
                <a:latin typeface="Tahoma"/>
                <a:cs typeface="Tahoma"/>
              </a:rPr>
              <a:t>of</a:t>
            </a:r>
            <a:r>
              <a:rPr sz="2200" spc="-114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the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105" dirty="0">
                <a:latin typeface="Tahoma"/>
                <a:cs typeface="Tahoma"/>
              </a:rPr>
              <a:t>node</a:t>
            </a:r>
            <a:r>
              <a:rPr sz="2200" spc="-114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removed</a:t>
            </a:r>
            <a:endParaRPr sz="22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lang="en-US" sz="2200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2783" y="1837454"/>
            <a:ext cx="102380" cy="10237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42783" y="2563422"/>
            <a:ext cx="102380" cy="10238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42783" y="2926406"/>
            <a:ext cx="102380" cy="10238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42783" y="3289390"/>
            <a:ext cx="102380" cy="10237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42783" y="4015358"/>
            <a:ext cx="102380" cy="10237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42783" y="4741326"/>
            <a:ext cx="102380" cy="10237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2783" y="5104311"/>
            <a:ext cx="102380" cy="10237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73110" y="1474753"/>
            <a:ext cx="4446270" cy="695062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4400" spc="120" dirty="0">
                <a:solidFill>
                  <a:srgbClr val="C00000"/>
                </a:solidFill>
                <a:latin typeface="Tahoma"/>
                <a:cs typeface="Tahoma"/>
              </a:rPr>
              <a:t>REVERSE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6608" y="3196647"/>
            <a:ext cx="4519295" cy="1179830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75"/>
              </a:spcBef>
            </a:pPr>
            <a:r>
              <a:rPr sz="3050" spc="70" dirty="0">
                <a:latin typeface="Tahoma"/>
                <a:cs typeface="Tahoma"/>
              </a:rPr>
              <a:t>Reversing</a:t>
            </a:r>
            <a:r>
              <a:rPr sz="3050" spc="-145" dirty="0">
                <a:latin typeface="Tahoma"/>
                <a:cs typeface="Tahoma"/>
              </a:rPr>
              <a:t> </a:t>
            </a:r>
            <a:r>
              <a:rPr sz="3050" spc="114" dirty="0">
                <a:latin typeface="Tahoma"/>
                <a:cs typeface="Tahoma"/>
              </a:rPr>
              <a:t>the</a:t>
            </a:r>
            <a:r>
              <a:rPr sz="3050" spc="-145" dirty="0">
                <a:latin typeface="Tahoma"/>
                <a:cs typeface="Tahoma"/>
              </a:rPr>
              <a:t> </a:t>
            </a:r>
            <a:r>
              <a:rPr sz="3050" spc="110" dirty="0">
                <a:latin typeface="Tahoma"/>
                <a:cs typeface="Tahoma"/>
              </a:rPr>
              <a:t>Linked</a:t>
            </a:r>
            <a:r>
              <a:rPr sz="3050" spc="-145" dirty="0">
                <a:latin typeface="Tahoma"/>
                <a:cs typeface="Tahoma"/>
              </a:rPr>
              <a:t> </a:t>
            </a:r>
            <a:r>
              <a:rPr sz="3050" spc="60" dirty="0">
                <a:latin typeface="Tahoma"/>
                <a:cs typeface="Tahoma"/>
              </a:rPr>
              <a:t>List</a:t>
            </a:r>
            <a:endParaRPr sz="305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885"/>
              </a:spcBef>
            </a:pPr>
            <a:r>
              <a:rPr sz="3050" spc="-50" dirty="0">
                <a:latin typeface="Arial Black"/>
                <a:cs typeface="Arial Black"/>
              </a:rPr>
              <a:t>in</a:t>
            </a:r>
            <a:r>
              <a:rPr sz="3050" spc="-215" dirty="0">
                <a:latin typeface="Arial Black"/>
                <a:cs typeface="Arial Black"/>
              </a:rPr>
              <a:t> </a:t>
            </a:r>
            <a:r>
              <a:rPr sz="3050" spc="-40" dirty="0">
                <a:latin typeface="Arial Black"/>
                <a:cs typeface="Arial Black"/>
              </a:rPr>
              <a:t>place!</a:t>
            </a:r>
            <a:endParaRPr sz="30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285199" y="2540154"/>
            <a:ext cx="782320" cy="512445"/>
            <a:chOff x="3285199" y="2540154"/>
            <a:chExt cx="782320" cy="512445"/>
          </a:xfrm>
        </p:grpSpPr>
        <p:sp>
          <p:nvSpPr>
            <p:cNvPr id="3" name="object 3"/>
            <p:cNvSpPr/>
            <p:nvPr/>
          </p:nvSpPr>
          <p:spPr>
            <a:xfrm>
              <a:off x="3285199" y="2796104"/>
              <a:ext cx="735330" cy="0"/>
            </a:xfrm>
            <a:custGeom>
              <a:avLst/>
              <a:gdLst/>
              <a:ahLst/>
              <a:cxnLst/>
              <a:rect l="l" t="t" r="r" b="b"/>
              <a:pathLst>
                <a:path w="735329">
                  <a:moveTo>
                    <a:pt x="0" y="0"/>
                  </a:moveTo>
                  <a:lnTo>
                    <a:pt x="735275" y="0"/>
                  </a:lnTo>
                </a:path>
              </a:pathLst>
            </a:custGeom>
            <a:ln w="93072">
              <a:solidFill>
                <a:srgbClr val="00BC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11061" y="2586690"/>
              <a:ext cx="209550" cy="419100"/>
            </a:xfrm>
            <a:custGeom>
              <a:avLst/>
              <a:gdLst/>
              <a:ahLst/>
              <a:cxnLst/>
              <a:rect l="l" t="t" r="r" b="b"/>
              <a:pathLst>
                <a:path w="209550" h="419100">
                  <a:moveTo>
                    <a:pt x="0" y="418827"/>
                  </a:moveTo>
                  <a:lnTo>
                    <a:pt x="209413" y="209413"/>
                  </a:lnTo>
                  <a:lnTo>
                    <a:pt x="0" y="0"/>
                  </a:lnTo>
                </a:path>
              </a:pathLst>
            </a:custGeom>
            <a:ln w="93072">
              <a:solidFill>
                <a:srgbClr val="00BC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8162217" y="2540154"/>
            <a:ext cx="782320" cy="512445"/>
            <a:chOff x="8162217" y="2540154"/>
            <a:chExt cx="782320" cy="512445"/>
          </a:xfrm>
        </p:grpSpPr>
        <p:sp>
          <p:nvSpPr>
            <p:cNvPr id="6" name="object 6"/>
            <p:cNvSpPr/>
            <p:nvPr/>
          </p:nvSpPr>
          <p:spPr>
            <a:xfrm>
              <a:off x="8162217" y="2796104"/>
              <a:ext cx="735330" cy="0"/>
            </a:xfrm>
            <a:custGeom>
              <a:avLst/>
              <a:gdLst/>
              <a:ahLst/>
              <a:cxnLst/>
              <a:rect l="l" t="t" r="r" b="b"/>
              <a:pathLst>
                <a:path w="735329">
                  <a:moveTo>
                    <a:pt x="0" y="0"/>
                  </a:moveTo>
                  <a:lnTo>
                    <a:pt x="735275" y="0"/>
                  </a:lnTo>
                </a:path>
              </a:pathLst>
            </a:custGeom>
            <a:ln w="93072">
              <a:solidFill>
                <a:srgbClr val="00BC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688079" y="2586690"/>
              <a:ext cx="209550" cy="419100"/>
            </a:xfrm>
            <a:custGeom>
              <a:avLst/>
              <a:gdLst/>
              <a:ahLst/>
              <a:cxnLst/>
              <a:rect l="l" t="t" r="r" b="b"/>
              <a:pathLst>
                <a:path w="209550" h="419100">
                  <a:moveTo>
                    <a:pt x="0" y="418827"/>
                  </a:moveTo>
                  <a:lnTo>
                    <a:pt x="209413" y="209413"/>
                  </a:lnTo>
                  <a:lnTo>
                    <a:pt x="0" y="0"/>
                  </a:lnTo>
                </a:path>
              </a:pathLst>
            </a:custGeom>
            <a:ln w="93072">
              <a:solidFill>
                <a:srgbClr val="00BC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833263" y="2125979"/>
            <a:ext cx="1340485" cy="1340485"/>
          </a:xfrm>
          <a:prstGeom prst="rect">
            <a:avLst/>
          </a:prstGeom>
          <a:solidFill>
            <a:srgbClr val="8BC24A"/>
          </a:solidFill>
        </p:spPr>
        <p:txBody>
          <a:bodyPr vert="horz" wrap="square" lIns="0" tIns="325120" rIns="0" bIns="0" rtlCol="0">
            <a:spAutoFit/>
          </a:bodyPr>
          <a:lstStyle/>
          <a:p>
            <a:pPr marL="354965">
              <a:lnSpc>
                <a:spcPct val="100000"/>
              </a:lnSpc>
              <a:spcBef>
                <a:spcPts val="2560"/>
              </a:spcBef>
            </a:pPr>
            <a:r>
              <a:rPr sz="4400" spc="70" dirty="0">
                <a:solidFill>
                  <a:srgbClr val="FAFAFA"/>
                </a:solidFill>
                <a:latin typeface="Tahoma"/>
                <a:cs typeface="Tahoma"/>
              </a:rPr>
              <a:t>13</a:t>
            </a:r>
            <a:endParaRPr sz="44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695786" y="2540154"/>
            <a:ext cx="782320" cy="512445"/>
            <a:chOff x="5695786" y="2540154"/>
            <a:chExt cx="782320" cy="512445"/>
          </a:xfrm>
        </p:grpSpPr>
        <p:sp>
          <p:nvSpPr>
            <p:cNvPr id="10" name="object 10"/>
            <p:cNvSpPr/>
            <p:nvPr/>
          </p:nvSpPr>
          <p:spPr>
            <a:xfrm>
              <a:off x="5695786" y="2796104"/>
              <a:ext cx="735330" cy="0"/>
            </a:xfrm>
            <a:custGeom>
              <a:avLst/>
              <a:gdLst/>
              <a:ahLst/>
              <a:cxnLst/>
              <a:rect l="l" t="t" r="r" b="b"/>
              <a:pathLst>
                <a:path w="735329">
                  <a:moveTo>
                    <a:pt x="0" y="0"/>
                  </a:moveTo>
                  <a:lnTo>
                    <a:pt x="735275" y="0"/>
                  </a:lnTo>
                </a:path>
              </a:pathLst>
            </a:custGeom>
            <a:ln w="93072">
              <a:solidFill>
                <a:srgbClr val="00BC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221647" y="2586690"/>
              <a:ext cx="209550" cy="419100"/>
            </a:xfrm>
            <a:custGeom>
              <a:avLst/>
              <a:gdLst/>
              <a:ahLst/>
              <a:cxnLst/>
              <a:rect l="l" t="t" r="r" b="b"/>
              <a:pathLst>
                <a:path w="209550" h="419100">
                  <a:moveTo>
                    <a:pt x="0" y="418827"/>
                  </a:moveTo>
                  <a:lnTo>
                    <a:pt x="209413" y="209413"/>
                  </a:lnTo>
                  <a:lnTo>
                    <a:pt x="0" y="0"/>
                  </a:lnTo>
                </a:path>
              </a:pathLst>
            </a:custGeom>
            <a:ln w="93072">
              <a:solidFill>
                <a:srgbClr val="00BC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188006" y="2125979"/>
            <a:ext cx="1340485" cy="1340485"/>
          </a:xfrm>
          <a:prstGeom prst="rect">
            <a:avLst/>
          </a:prstGeom>
          <a:solidFill>
            <a:srgbClr val="8BC24A"/>
          </a:solidFill>
        </p:spPr>
        <p:txBody>
          <a:bodyPr vert="horz" wrap="square" lIns="0" tIns="325120" rIns="0" bIns="0" rtlCol="0">
            <a:spAutoFit/>
          </a:bodyPr>
          <a:lstStyle/>
          <a:p>
            <a:pPr marL="354965">
              <a:lnSpc>
                <a:spcPct val="100000"/>
              </a:lnSpc>
              <a:spcBef>
                <a:spcPts val="2560"/>
              </a:spcBef>
            </a:pPr>
            <a:r>
              <a:rPr sz="4400" spc="70" dirty="0">
                <a:solidFill>
                  <a:srgbClr val="FAFAFA"/>
                </a:solidFill>
                <a:latin typeface="Tahoma"/>
                <a:cs typeface="Tahoma"/>
              </a:rPr>
              <a:t>27</a:t>
            </a:r>
            <a:endParaRPr sz="44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626514" y="2125979"/>
            <a:ext cx="1340485" cy="1340485"/>
          </a:xfrm>
          <a:prstGeom prst="rect">
            <a:avLst/>
          </a:prstGeom>
          <a:solidFill>
            <a:srgbClr val="8BC24A"/>
          </a:solidFill>
        </p:spPr>
        <p:txBody>
          <a:bodyPr vert="horz" wrap="square" lIns="0" tIns="325120" rIns="0" bIns="0" rtlCol="0">
            <a:spAutoFit/>
          </a:bodyPr>
          <a:lstStyle/>
          <a:p>
            <a:pPr marL="382905">
              <a:lnSpc>
                <a:spcPct val="100000"/>
              </a:lnSpc>
              <a:spcBef>
                <a:spcPts val="2560"/>
              </a:spcBef>
            </a:pPr>
            <a:r>
              <a:rPr sz="4400" spc="70" dirty="0">
                <a:solidFill>
                  <a:srgbClr val="FAFAFA"/>
                </a:solidFill>
                <a:latin typeface="Tahoma"/>
                <a:cs typeface="Tahoma"/>
              </a:rPr>
              <a:t>32</a:t>
            </a:r>
            <a:endParaRPr sz="44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074330" y="2125979"/>
            <a:ext cx="1340485" cy="1340485"/>
          </a:xfrm>
          <a:prstGeom prst="rect">
            <a:avLst/>
          </a:prstGeom>
          <a:solidFill>
            <a:srgbClr val="8BC24A"/>
          </a:solidFill>
        </p:spPr>
        <p:txBody>
          <a:bodyPr vert="horz" wrap="square" lIns="0" tIns="325120" rIns="0" bIns="0" rtlCol="0">
            <a:spAutoFit/>
          </a:bodyPr>
          <a:lstStyle/>
          <a:p>
            <a:pPr marL="429259">
              <a:lnSpc>
                <a:spcPct val="100000"/>
              </a:lnSpc>
              <a:spcBef>
                <a:spcPts val="2560"/>
              </a:spcBef>
            </a:pPr>
            <a:r>
              <a:rPr sz="4400" spc="70" dirty="0">
                <a:solidFill>
                  <a:srgbClr val="FAFAFA"/>
                </a:solidFill>
                <a:latin typeface="Tahoma"/>
                <a:cs typeface="Tahoma"/>
              </a:rPr>
              <a:t>71</a:t>
            </a:r>
            <a:endParaRPr sz="44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89548" y="3676903"/>
            <a:ext cx="76708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45" dirty="0">
                <a:latin typeface="Tahoma"/>
                <a:cs typeface="Tahoma"/>
              </a:rPr>
              <a:t>HEAD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548228" y="3676903"/>
            <a:ext cx="56007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75" dirty="0">
                <a:latin typeface="Tahoma"/>
                <a:cs typeface="Tahoma"/>
              </a:rPr>
              <a:t>TAIL</a:t>
            </a:r>
            <a:endParaRPr sz="220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313121" y="4894896"/>
            <a:ext cx="772795" cy="512445"/>
            <a:chOff x="3313121" y="4894896"/>
            <a:chExt cx="772795" cy="512445"/>
          </a:xfrm>
        </p:grpSpPr>
        <p:sp>
          <p:nvSpPr>
            <p:cNvPr id="18" name="object 18"/>
            <p:cNvSpPr/>
            <p:nvPr/>
          </p:nvSpPr>
          <p:spPr>
            <a:xfrm>
              <a:off x="3359657" y="5150847"/>
              <a:ext cx="726440" cy="0"/>
            </a:xfrm>
            <a:custGeom>
              <a:avLst/>
              <a:gdLst/>
              <a:ahLst/>
              <a:cxnLst/>
              <a:rect l="l" t="t" r="r" b="b"/>
              <a:pathLst>
                <a:path w="726439">
                  <a:moveTo>
                    <a:pt x="0" y="0"/>
                  </a:moveTo>
                  <a:lnTo>
                    <a:pt x="725968" y="0"/>
                  </a:lnTo>
                </a:path>
              </a:pathLst>
            </a:custGeom>
            <a:ln w="93072">
              <a:solidFill>
                <a:srgbClr val="00BC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359657" y="4941433"/>
              <a:ext cx="209550" cy="419100"/>
            </a:xfrm>
            <a:custGeom>
              <a:avLst/>
              <a:gdLst/>
              <a:ahLst/>
              <a:cxnLst/>
              <a:rect l="l" t="t" r="r" b="b"/>
              <a:pathLst>
                <a:path w="209550" h="419100">
                  <a:moveTo>
                    <a:pt x="209413" y="0"/>
                  </a:moveTo>
                  <a:lnTo>
                    <a:pt x="0" y="209413"/>
                  </a:lnTo>
                  <a:lnTo>
                    <a:pt x="209413" y="418827"/>
                  </a:lnTo>
                </a:path>
              </a:pathLst>
            </a:custGeom>
            <a:ln w="93072">
              <a:solidFill>
                <a:srgbClr val="00BC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8190138" y="4894896"/>
            <a:ext cx="772795" cy="512445"/>
            <a:chOff x="8190138" y="4894896"/>
            <a:chExt cx="772795" cy="512445"/>
          </a:xfrm>
        </p:grpSpPr>
        <p:sp>
          <p:nvSpPr>
            <p:cNvPr id="21" name="object 21"/>
            <p:cNvSpPr/>
            <p:nvPr/>
          </p:nvSpPr>
          <p:spPr>
            <a:xfrm>
              <a:off x="8236674" y="5150847"/>
              <a:ext cx="726440" cy="0"/>
            </a:xfrm>
            <a:custGeom>
              <a:avLst/>
              <a:gdLst/>
              <a:ahLst/>
              <a:cxnLst/>
              <a:rect l="l" t="t" r="r" b="b"/>
              <a:pathLst>
                <a:path w="726440">
                  <a:moveTo>
                    <a:pt x="0" y="0"/>
                  </a:moveTo>
                  <a:lnTo>
                    <a:pt x="725968" y="0"/>
                  </a:lnTo>
                </a:path>
              </a:pathLst>
            </a:custGeom>
            <a:ln w="93072">
              <a:solidFill>
                <a:srgbClr val="00BC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236675" y="4941433"/>
              <a:ext cx="209550" cy="419100"/>
            </a:xfrm>
            <a:custGeom>
              <a:avLst/>
              <a:gdLst/>
              <a:ahLst/>
              <a:cxnLst/>
              <a:rect l="l" t="t" r="r" b="b"/>
              <a:pathLst>
                <a:path w="209550" h="419100">
                  <a:moveTo>
                    <a:pt x="209413" y="0"/>
                  </a:moveTo>
                  <a:lnTo>
                    <a:pt x="0" y="209413"/>
                  </a:lnTo>
                  <a:lnTo>
                    <a:pt x="209413" y="418827"/>
                  </a:lnTo>
                </a:path>
              </a:pathLst>
            </a:custGeom>
            <a:ln w="93072">
              <a:solidFill>
                <a:srgbClr val="00BC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833263" y="4480723"/>
            <a:ext cx="1340485" cy="1340485"/>
          </a:xfrm>
          <a:prstGeom prst="rect">
            <a:avLst/>
          </a:prstGeom>
          <a:solidFill>
            <a:srgbClr val="8BC24A"/>
          </a:solidFill>
        </p:spPr>
        <p:txBody>
          <a:bodyPr vert="horz" wrap="square" lIns="0" tIns="325120" rIns="0" bIns="0" rtlCol="0">
            <a:spAutoFit/>
          </a:bodyPr>
          <a:lstStyle/>
          <a:p>
            <a:pPr marL="354965">
              <a:lnSpc>
                <a:spcPct val="100000"/>
              </a:lnSpc>
              <a:spcBef>
                <a:spcPts val="2560"/>
              </a:spcBef>
            </a:pPr>
            <a:r>
              <a:rPr sz="4400" spc="70" dirty="0">
                <a:solidFill>
                  <a:srgbClr val="FAFAFA"/>
                </a:solidFill>
                <a:latin typeface="Tahoma"/>
                <a:cs typeface="Tahoma"/>
              </a:rPr>
              <a:t>13</a:t>
            </a:r>
            <a:endParaRPr sz="440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723708" y="4894896"/>
            <a:ext cx="772795" cy="512445"/>
            <a:chOff x="5723708" y="4894896"/>
            <a:chExt cx="772795" cy="512445"/>
          </a:xfrm>
        </p:grpSpPr>
        <p:sp>
          <p:nvSpPr>
            <p:cNvPr id="25" name="object 25"/>
            <p:cNvSpPr/>
            <p:nvPr/>
          </p:nvSpPr>
          <p:spPr>
            <a:xfrm>
              <a:off x="5770244" y="5150847"/>
              <a:ext cx="726440" cy="0"/>
            </a:xfrm>
            <a:custGeom>
              <a:avLst/>
              <a:gdLst/>
              <a:ahLst/>
              <a:cxnLst/>
              <a:rect l="l" t="t" r="r" b="b"/>
              <a:pathLst>
                <a:path w="726439">
                  <a:moveTo>
                    <a:pt x="0" y="0"/>
                  </a:moveTo>
                  <a:lnTo>
                    <a:pt x="725968" y="0"/>
                  </a:lnTo>
                </a:path>
              </a:pathLst>
            </a:custGeom>
            <a:ln w="93072">
              <a:solidFill>
                <a:srgbClr val="00BC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770244" y="4941433"/>
              <a:ext cx="209550" cy="419100"/>
            </a:xfrm>
            <a:custGeom>
              <a:avLst/>
              <a:gdLst/>
              <a:ahLst/>
              <a:cxnLst/>
              <a:rect l="l" t="t" r="r" b="b"/>
              <a:pathLst>
                <a:path w="209550" h="419100">
                  <a:moveTo>
                    <a:pt x="209413" y="0"/>
                  </a:moveTo>
                  <a:lnTo>
                    <a:pt x="0" y="209413"/>
                  </a:lnTo>
                  <a:lnTo>
                    <a:pt x="209413" y="418827"/>
                  </a:lnTo>
                </a:path>
              </a:pathLst>
            </a:custGeom>
            <a:ln w="93072">
              <a:solidFill>
                <a:srgbClr val="00BC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188006" y="4480723"/>
            <a:ext cx="1340485" cy="1340485"/>
          </a:xfrm>
          <a:prstGeom prst="rect">
            <a:avLst/>
          </a:prstGeom>
          <a:solidFill>
            <a:srgbClr val="8BC24A"/>
          </a:solidFill>
        </p:spPr>
        <p:txBody>
          <a:bodyPr vert="horz" wrap="square" lIns="0" tIns="325120" rIns="0" bIns="0" rtlCol="0">
            <a:spAutoFit/>
          </a:bodyPr>
          <a:lstStyle/>
          <a:p>
            <a:pPr marL="354965">
              <a:lnSpc>
                <a:spcPct val="100000"/>
              </a:lnSpc>
              <a:spcBef>
                <a:spcPts val="2560"/>
              </a:spcBef>
            </a:pPr>
            <a:r>
              <a:rPr sz="4400" spc="70" dirty="0">
                <a:solidFill>
                  <a:srgbClr val="FAFAFA"/>
                </a:solidFill>
                <a:latin typeface="Tahoma"/>
                <a:cs typeface="Tahoma"/>
              </a:rPr>
              <a:t>27</a:t>
            </a:r>
            <a:endParaRPr sz="44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626514" y="4480723"/>
            <a:ext cx="1340485" cy="1340485"/>
          </a:xfrm>
          <a:prstGeom prst="rect">
            <a:avLst/>
          </a:prstGeom>
          <a:solidFill>
            <a:srgbClr val="8BC24A"/>
          </a:solidFill>
        </p:spPr>
        <p:txBody>
          <a:bodyPr vert="horz" wrap="square" lIns="0" tIns="325120" rIns="0" bIns="0" rtlCol="0">
            <a:spAutoFit/>
          </a:bodyPr>
          <a:lstStyle/>
          <a:p>
            <a:pPr marL="382905">
              <a:lnSpc>
                <a:spcPct val="100000"/>
              </a:lnSpc>
              <a:spcBef>
                <a:spcPts val="2560"/>
              </a:spcBef>
            </a:pPr>
            <a:r>
              <a:rPr sz="4400" spc="70" dirty="0">
                <a:solidFill>
                  <a:srgbClr val="FAFAFA"/>
                </a:solidFill>
                <a:latin typeface="Tahoma"/>
                <a:cs typeface="Tahoma"/>
              </a:rPr>
              <a:t>32</a:t>
            </a:r>
            <a:endParaRPr sz="44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074330" y="4480723"/>
            <a:ext cx="1340485" cy="1340485"/>
          </a:xfrm>
          <a:prstGeom prst="rect">
            <a:avLst/>
          </a:prstGeom>
          <a:solidFill>
            <a:srgbClr val="8BC24A"/>
          </a:solidFill>
        </p:spPr>
        <p:txBody>
          <a:bodyPr vert="horz" wrap="square" lIns="0" tIns="325120" rIns="0" bIns="0" rtlCol="0">
            <a:spAutoFit/>
          </a:bodyPr>
          <a:lstStyle/>
          <a:p>
            <a:pPr marL="429259">
              <a:lnSpc>
                <a:spcPct val="100000"/>
              </a:lnSpc>
              <a:spcBef>
                <a:spcPts val="2560"/>
              </a:spcBef>
            </a:pPr>
            <a:r>
              <a:rPr sz="4400" spc="70" dirty="0">
                <a:solidFill>
                  <a:srgbClr val="FAFAFA"/>
                </a:solidFill>
                <a:latin typeface="Tahoma"/>
                <a:cs typeface="Tahoma"/>
              </a:rPr>
              <a:t>71</a:t>
            </a:r>
            <a:endParaRPr sz="44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232701" y="5994418"/>
            <a:ext cx="56007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75" dirty="0">
                <a:latin typeface="Tahoma"/>
                <a:cs typeface="Tahoma"/>
              </a:rPr>
              <a:t>TAIL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444684" y="5994418"/>
            <a:ext cx="76708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45" dirty="0">
                <a:latin typeface="Tahoma"/>
                <a:cs typeface="Tahoma"/>
              </a:rPr>
              <a:t>HEAD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title"/>
          </p:nvPr>
        </p:nvSpPr>
        <p:spPr>
          <a:xfrm>
            <a:off x="1717746" y="884718"/>
            <a:ext cx="875665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dirty="0">
                <a:solidFill>
                  <a:srgbClr val="3F50B4"/>
                </a:solidFill>
                <a:latin typeface="Tahoma"/>
                <a:cs typeface="Tahoma"/>
              </a:rPr>
              <a:t>REVERSING</a:t>
            </a:r>
            <a:r>
              <a:rPr sz="4400" spc="-170" dirty="0">
                <a:solidFill>
                  <a:srgbClr val="3F50B4"/>
                </a:solidFill>
                <a:latin typeface="Tahoma"/>
                <a:cs typeface="Tahoma"/>
              </a:rPr>
              <a:t> </a:t>
            </a:r>
            <a:r>
              <a:rPr sz="4400" spc="130" dirty="0">
                <a:solidFill>
                  <a:srgbClr val="3F50B4"/>
                </a:solidFill>
                <a:latin typeface="Tahoma"/>
                <a:cs typeface="Tahoma"/>
              </a:rPr>
              <a:t>A</a:t>
            </a:r>
            <a:r>
              <a:rPr sz="4400" spc="-165" dirty="0">
                <a:solidFill>
                  <a:srgbClr val="3F50B4"/>
                </a:solidFill>
                <a:latin typeface="Tahoma"/>
                <a:cs typeface="Tahoma"/>
              </a:rPr>
              <a:t> </a:t>
            </a:r>
            <a:r>
              <a:rPr sz="4400" dirty="0">
                <a:solidFill>
                  <a:srgbClr val="3F50B4"/>
                </a:solidFill>
                <a:latin typeface="Tahoma"/>
                <a:cs typeface="Tahoma"/>
              </a:rPr>
              <a:t>SINGLY</a:t>
            </a:r>
            <a:r>
              <a:rPr sz="4400" spc="-165" dirty="0">
                <a:solidFill>
                  <a:srgbClr val="3F50B4"/>
                </a:solidFill>
                <a:latin typeface="Tahoma"/>
                <a:cs typeface="Tahoma"/>
              </a:rPr>
              <a:t> </a:t>
            </a:r>
            <a:r>
              <a:rPr sz="4400" dirty="0">
                <a:solidFill>
                  <a:srgbClr val="3F50B4"/>
                </a:solidFill>
                <a:latin typeface="Tahoma"/>
                <a:cs typeface="Tahoma"/>
              </a:rPr>
              <a:t>LINKED</a:t>
            </a:r>
            <a:r>
              <a:rPr sz="4400" spc="-170" dirty="0">
                <a:solidFill>
                  <a:srgbClr val="3F50B4"/>
                </a:solidFill>
                <a:latin typeface="Tahoma"/>
                <a:cs typeface="Tahoma"/>
              </a:rPr>
              <a:t> </a:t>
            </a:r>
            <a:r>
              <a:rPr sz="4400" spc="-35" dirty="0">
                <a:solidFill>
                  <a:srgbClr val="3F50B4"/>
                </a:solidFill>
                <a:latin typeface="Tahoma"/>
                <a:cs typeface="Tahoma"/>
              </a:rPr>
              <a:t>LIST</a:t>
            </a:r>
            <a:endParaRPr sz="4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7716" y="453465"/>
            <a:ext cx="5816600" cy="12134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400" spc="120" dirty="0">
                <a:solidFill>
                  <a:srgbClr val="C00000"/>
                </a:solidFill>
                <a:latin typeface="Tahoma"/>
                <a:cs typeface="Tahoma"/>
              </a:rPr>
              <a:t>Reverse</a:t>
            </a:r>
            <a:r>
              <a:rPr sz="7800" spc="-1095" dirty="0">
                <a:solidFill>
                  <a:srgbClr val="663AB6"/>
                </a:solidFill>
                <a:latin typeface="Tahoma"/>
                <a:cs typeface="Tahoma"/>
              </a:rPr>
              <a:t> </a:t>
            </a:r>
            <a:r>
              <a:rPr sz="4400" spc="120" dirty="0">
                <a:solidFill>
                  <a:srgbClr val="C00000"/>
                </a:solidFill>
                <a:latin typeface="Tahoma"/>
                <a:cs typeface="Tahoma"/>
              </a:rPr>
              <a:t>pseudocode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2397614" y="1899212"/>
            <a:ext cx="7396770" cy="3998852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pc="65" dirty="0"/>
              <a:t>Swap</a:t>
            </a:r>
            <a:r>
              <a:rPr spc="-120" dirty="0"/>
              <a:t> </a:t>
            </a:r>
            <a:r>
              <a:rPr spc="70" dirty="0"/>
              <a:t>the</a:t>
            </a:r>
            <a:r>
              <a:rPr spc="-114" dirty="0"/>
              <a:t> </a:t>
            </a:r>
            <a:r>
              <a:rPr spc="95" dirty="0"/>
              <a:t>head</a:t>
            </a:r>
            <a:r>
              <a:rPr spc="-114" dirty="0"/>
              <a:t> </a:t>
            </a:r>
            <a:r>
              <a:rPr spc="105" dirty="0"/>
              <a:t>and</a:t>
            </a:r>
            <a:r>
              <a:rPr spc="-114" dirty="0"/>
              <a:t> </a:t>
            </a:r>
            <a:r>
              <a:rPr spc="30" dirty="0"/>
              <a:t>tail</a:t>
            </a:r>
          </a:p>
          <a:p>
            <a:pPr marL="12700" marR="3686810">
              <a:lnSpc>
                <a:spcPct val="108300"/>
              </a:lnSpc>
            </a:pPr>
            <a:r>
              <a:rPr spc="60" dirty="0"/>
              <a:t>Create</a:t>
            </a:r>
            <a:r>
              <a:rPr spc="-110" dirty="0"/>
              <a:t> </a:t>
            </a:r>
            <a:r>
              <a:rPr spc="65" dirty="0"/>
              <a:t>a</a:t>
            </a:r>
            <a:r>
              <a:rPr spc="-105" dirty="0"/>
              <a:t> </a:t>
            </a:r>
            <a:r>
              <a:rPr spc="65" dirty="0"/>
              <a:t>variable</a:t>
            </a:r>
            <a:r>
              <a:rPr spc="-105" dirty="0"/>
              <a:t> </a:t>
            </a:r>
            <a:r>
              <a:rPr spc="60" dirty="0"/>
              <a:t>called</a:t>
            </a:r>
            <a:r>
              <a:rPr spc="-105" dirty="0"/>
              <a:t> </a:t>
            </a:r>
            <a:r>
              <a:rPr spc="35" dirty="0"/>
              <a:t>next </a:t>
            </a:r>
            <a:r>
              <a:rPr spc="60" dirty="0"/>
              <a:t>Create</a:t>
            </a:r>
            <a:r>
              <a:rPr spc="-110" dirty="0"/>
              <a:t> </a:t>
            </a:r>
            <a:r>
              <a:rPr spc="65" dirty="0"/>
              <a:t>a</a:t>
            </a:r>
            <a:r>
              <a:rPr spc="-105" dirty="0"/>
              <a:t> </a:t>
            </a:r>
            <a:r>
              <a:rPr spc="65" dirty="0"/>
              <a:t>variable</a:t>
            </a:r>
            <a:r>
              <a:rPr spc="-105" dirty="0"/>
              <a:t> </a:t>
            </a:r>
            <a:r>
              <a:rPr spc="60" dirty="0"/>
              <a:t>called</a:t>
            </a:r>
            <a:r>
              <a:rPr spc="-105" dirty="0"/>
              <a:t> </a:t>
            </a:r>
            <a:r>
              <a:rPr spc="30" dirty="0"/>
              <a:t>prev</a:t>
            </a:r>
          </a:p>
          <a:p>
            <a:pPr marL="12700" marR="74295">
              <a:lnSpc>
                <a:spcPct val="108300"/>
              </a:lnSpc>
            </a:pPr>
            <a:r>
              <a:rPr spc="60" dirty="0"/>
              <a:t>Create</a:t>
            </a:r>
            <a:r>
              <a:rPr spc="-105" dirty="0"/>
              <a:t> </a:t>
            </a:r>
            <a:r>
              <a:rPr spc="65" dirty="0"/>
              <a:t>a</a:t>
            </a:r>
            <a:r>
              <a:rPr spc="-100" dirty="0"/>
              <a:t> </a:t>
            </a:r>
            <a:r>
              <a:rPr spc="65" dirty="0"/>
              <a:t>variable</a:t>
            </a:r>
            <a:r>
              <a:rPr spc="-100" dirty="0"/>
              <a:t> </a:t>
            </a:r>
            <a:r>
              <a:rPr spc="60" dirty="0"/>
              <a:t>called</a:t>
            </a:r>
            <a:r>
              <a:rPr spc="-100" dirty="0"/>
              <a:t> </a:t>
            </a:r>
            <a:r>
              <a:rPr spc="105" dirty="0"/>
              <a:t>node</a:t>
            </a:r>
            <a:r>
              <a:rPr spc="-100" dirty="0"/>
              <a:t> </a:t>
            </a:r>
            <a:r>
              <a:rPr spc="105" dirty="0"/>
              <a:t>and</a:t>
            </a:r>
            <a:r>
              <a:rPr spc="-100" dirty="0"/>
              <a:t> </a:t>
            </a:r>
            <a:r>
              <a:rPr spc="60" dirty="0"/>
              <a:t>initialize</a:t>
            </a:r>
            <a:r>
              <a:rPr spc="-100" dirty="0"/>
              <a:t> </a:t>
            </a:r>
            <a:r>
              <a:rPr dirty="0"/>
              <a:t>it</a:t>
            </a:r>
            <a:r>
              <a:rPr spc="-100" dirty="0"/>
              <a:t> </a:t>
            </a:r>
            <a:r>
              <a:rPr spc="75" dirty="0"/>
              <a:t>to</a:t>
            </a:r>
            <a:r>
              <a:rPr spc="-100" dirty="0"/>
              <a:t> </a:t>
            </a:r>
            <a:r>
              <a:rPr spc="70" dirty="0"/>
              <a:t>the</a:t>
            </a:r>
            <a:r>
              <a:rPr spc="-100" dirty="0"/>
              <a:t> </a:t>
            </a:r>
            <a:r>
              <a:rPr spc="75" dirty="0"/>
              <a:t>head </a:t>
            </a:r>
            <a:r>
              <a:rPr spc="65" dirty="0"/>
              <a:t>property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pc="105" dirty="0"/>
              <a:t>Loop</a:t>
            </a:r>
            <a:r>
              <a:rPr spc="-110" dirty="0"/>
              <a:t> </a:t>
            </a:r>
            <a:r>
              <a:rPr spc="75" dirty="0"/>
              <a:t>through</a:t>
            </a:r>
            <a:r>
              <a:rPr spc="-110" dirty="0"/>
              <a:t> </a:t>
            </a:r>
            <a:r>
              <a:rPr spc="70" dirty="0"/>
              <a:t>the</a:t>
            </a:r>
            <a:r>
              <a:rPr spc="-110" dirty="0"/>
              <a:t> </a:t>
            </a:r>
            <a:r>
              <a:rPr spc="-20" dirty="0"/>
              <a:t>list</a:t>
            </a: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dirty="0"/>
              <a:t>Set</a:t>
            </a:r>
            <a:r>
              <a:rPr spc="-105" dirty="0"/>
              <a:t> </a:t>
            </a:r>
            <a:r>
              <a:rPr spc="55" dirty="0"/>
              <a:t>next</a:t>
            </a:r>
            <a:r>
              <a:rPr spc="-100" dirty="0"/>
              <a:t> </a:t>
            </a:r>
            <a:r>
              <a:rPr spc="75" dirty="0"/>
              <a:t>to</a:t>
            </a:r>
            <a:r>
              <a:rPr spc="-105" dirty="0"/>
              <a:t> </a:t>
            </a:r>
            <a:r>
              <a:rPr spc="95" dirty="0"/>
              <a:t>be</a:t>
            </a:r>
            <a:r>
              <a:rPr spc="-100" dirty="0"/>
              <a:t> </a:t>
            </a:r>
            <a:r>
              <a:rPr spc="70" dirty="0"/>
              <a:t>the</a:t>
            </a:r>
            <a:r>
              <a:rPr spc="-105" dirty="0"/>
              <a:t> </a:t>
            </a:r>
            <a:r>
              <a:rPr spc="55" dirty="0"/>
              <a:t>next</a:t>
            </a:r>
            <a:r>
              <a:rPr spc="-100" dirty="0"/>
              <a:t> </a:t>
            </a:r>
            <a:r>
              <a:rPr spc="75" dirty="0"/>
              <a:t>property</a:t>
            </a:r>
            <a:r>
              <a:rPr spc="-105" dirty="0"/>
              <a:t> </a:t>
            </a:r>
            <a:r>
              <a:rPr spc="120" dirty="0"/>
              <a:t>on</a:t>
            </a:r>
            <a:r>
              <a:rPr spc="-100" dirty="0"/>
              <a:t> </a:t>
            </a:r>
            <a:r>
              <a:rPr spc="55" dirty="0"/>
              <a:t>whatever</a:t>
            </a:r>
            <a:r>
              <a:rPr spc="-105" dirty="0"/>
              <a:t> </a:t>
            </a:r>
            <a:r>
              <a:rPr spc="105" dirty="0"/>
              <a:t>node</a:t>
            </a:r>
            <a:r>
              <a:rPr spc="-100" dirty="0"/>
              <a:t> </a:t>
            </a:r>
            <a:r>
              <a:rPr spc="25" dirty="0"/>
              <a:t>is</a:t>
            </a:r>
          </a:p>
          <a:p>
            <a:pPr marL="12700" marR="7620">
              <a:lnSpc>
                <a:spcPct val="108300"/>
              </a:lnSpc>
            </a:pPr>
            <a:r>
              <a:rPr dirty="0"/>
              <a:t>Set</a:t>
            </a:r>
            <a:r>
              <a:rPr spc="-105" dirty="0"/>
              <a:t> </a:t>
            </a:r>
            <a:r>
              <a:rPr spc="70" dirty="0"/>
              <a:t>the</a:t>
            </a:r>
            <a:r>
              <a:rPr spc="-105" dirty="0"/>
              <a:t> </a:t>
            </a:r>
            <a:r>
              <a:rPr spc="55" dirty="0"/>
              <a:t>next</a:t>
            </a:r>
            <a:r>
              <a:rPr spc="-100" dirty="0"/>
              <a:t> </a:t>
            </a:r>
            <a:r>
              <a:rPr spc="75" dirty="0"/>
              <a:t>property</a:t>
            </a:r>
            <a:r>
              <a:rPr spc="-105" dirty="0"/>
              <a:t> </a:t>
            </a:r>
            <a:r>
              <a:rPr spc="120" dirty="0"/>
              <a:t>on</a:t>
            </a:r>
            <a:r>
              <a:rPr spc="-100" dirty="0"/>
              <a:t> </a:t>
            </a:r>
            <a:r>
              <a:rPr spc="70" dirty="0"/>
              <a:t>the</a:t>
            </a:r>
            <a:r>
              <a:rPr spc="-105" dirty="0"/>
              <a:t> </a:t>
            </a:r>
            <a:r>
              <a:rPr spc="105" dirty="0"/>
              <a:t>node</a:t>
            </a:r>
            <a:r>
              <a:rPr spc="-105" dirty="0"/>
              <a:t> </a:t>
            </a:r>
            <a:r>
              <a:rPr spc="75" dirty="0"/>
              <a:t>to</a:t>
            </a:r>
            <a:r>
              <a:rPr spc="-100" dirty="0"/>
              <a:t> </a:t>
            </a:r>
            <a:r>
              <a:rPr spc="95" dirty="0"/>
              <a:t>be</a:t>
            </a:r>
            <a:r>
              <a:rPr spc="-105" dirty="0"/>
              <a:t> </a:t>
            </a:r>
            <a:r>
              <a:rPr spc="55" dirty="0"/>
              <a:t>whatever</a:t>
            </a:r>
            <a:r>
              <a:rPr spc="-100" dirty="0"/>
              <a:t> </a:t>
            </a:r>
            <a:r>
              <a:rPr spc="50" dirty="0"/>
              <a:t>prev</a:t>
            </a:r>
            <a:r>
              <a:rPr spc="-105" dirty="0"/>
              <a:t> </a:t>
            </a:r>
            <a:r>
              <a:rPr spc="25" dirty="0"/>
              <a:t>is </a:t>
            </a:r>
            <a:r>
              <a:rPr dirty="0"/>
              <a:t>Set</a:t>
            </a:r>
            <a:r>
              <a:rPr spc="-110" dirty="0"/>
              <a:t> </a:t>
            </a:r>
            <a:r>
              <a:rPr spc="50" dirty="0"/>
              <a:t>prev</a:t>
            </a:r>
            <a:r>
              <a:rPr spc="-105" dirty="0"/>
              <a:t> </a:t>
            </a:r>
            <a:r>
              <a:rPr spc="75" dirty="0"/>
              <a:t>to</a:t>
            </a:r>
            <a:r>
              <a:rPr spc="-105" dirty="0"/>
              <a:t> </a:t>
            </a:r>
            <a:r>
              <a:rPr spc="95" dirty="0"/>
              <a:t>be</a:t>
            </a:r>
            <a:r>
              <a:rPr spc="-105" dirty="0"/>
              <a:t> </a:t>
            </a:r>
            <a:r>
              <a:rPr spc="70" dirty="0"/>
              <a:t>the</a:t>
            </a:r>
            <a:r>
              <a:rPr spc="-105" dirty="0"/>
              <a:t> </a:t>
            </a:r>
            <a:r>
              <a:rPr spc="60" dirty="0"/>
              <a:t>value</a:t>
            </a:r>
            <a:r>
              <a:rPr spc="-110" dirty="0"/>
              <a:t> </a:t>
            </a:r>
            <a:r>
              <a:rPr spc="85" dirty="0"/>
              <a:t>of</a:t>
            </a:r>
            <a:r>
              <a:rPr spc="-105" dirty="0"/>
              <a:t> </a:t>
            </a:r>
            <a:r>
              <a:rPr spc="70" dirty="0"/>
              <a:t>the</a:t>
            </a:r>
            <a:r>
              <a:rPr spc="-105" dirty="0"/>
              <a:t> </a:t>
            </a:r>
            <a:r>
              <a:rPr spc="105" dirty="0"/>
              <a:t>node</a:t>
            </a:r>
            <a:r>
              <a:rPr spc="-105" dirty="0"/>
              <a:t> </a:t>
            </a:r>
            <a:r>
              <a:rPr spc="55" dirty="0"/>
              <a:t>variable</a:t>
            </a:r>
          </a:p>
          <a:p>
            <a:pPr marL="12700" marR="5080">
              <a:lnSpc>
                <a:spcPct val="108300"/>
              </a:lnSpc>
            </a:pPr>
            <a:r>
              <a:rPr dirty="0"/>
              <a:t>Set</a:t>
            </a:r>
            <a:r>
              <a:rPr spc="-110" dirty="0"/>
              <a:t> </a:t>
            </a:r>
            <a:r>
              <a:rPr spc="70" dirty="0"/>
              <a:t>the</a:t>
            </a:r>
            <a:r>
              <a:rPr spc="-105" dirty="0"/>
              <a:t> </a:t>
            </a:r>
            <a:r>
              <a:rPr spc="105" dirty="0"/>
              <a:t>node</a:t>
            </a:r>
            <a:r>
              <a:rPr spc="-110" dirty="0"/>
              <a:t> </a:t>
            </a:r>
            <a:r>
              <a:rPr spc="65" dirty="0"/>
              <a:t>variable</a:t>
            </a:r>
            <a:r>
              <a:rPr spc="-105" dirty="0"/>
              <a:t> </a:t>
            </a:r>
            <a:r>
              <a:rPr spc="75" dirty="0"/>
              <a:t>to</a:t>
            </a:r>
            <a:r>
              <a:rPr spc="-110" dirty="0"/>
              <a:t> </a:t>
            </a:r>
            <a:r>
              <a:rPr spc="95" dirty="0"/>
              <a:t>be</a:t>
            </a:r>
            <a:r>
              <a:rPr spc="-105" dirty="0"/>
              <a:t> </a:t>
            </a:r>
            <a:r>
              <a:rPr spc="70" dirty="0"/>
              <a:t>the</a:t>
            </a:r>
            <a:r>
              <a:rPr spc="-105" dirty="0"/>
              <a:t> </a:t>
            </a:r>
            <a:r>
              <a:rPr spc="60" dirty="0"/>
              <a:t>value</a:t>
            </a:r>
            <a:r>
              <a:rPr spc="-110" dirty="0"/>
              <a:t> </a:t>
            </a:r>
            <a:r>
              <a:rPr spc="85" dirty="0"/>
              <a:t>of</a:t>
            </a:r>
            <a:r>
              <a:rPr spc="-105" dirty="0"/>
              <a:t> </a:t>
            </a:r>
            <a:r>
              <a:rPr spc="70" dirty="0"/>
              <a:t>the</a:t>
            </a:r>
            <a:r>
              <a:rPr spc="-110" dirty="0"/>
              <a:t> </a:t>
            </a:r>
            <a:r>
              <a:rPr spc="55" dirty="0"/>
              <a:t>next</a:t>
            </a:r>
            <a:r>
              <a:rPr spc="-105" dirty="0"/>
              <a:t> </a:t>
            </a:r>
            <a:r>
              <a:rPr spc="55" dirty="0"/>
              <a:t>variable </a:t>
            </a:r>
            <a:r>
              <a:rPr spc="85" dirty="0"/>
              <a:t>Once</a:t>
            </a:r>
            <a:r>
              <a:rPr spc="-110" dirty="0"/>
              <a:t> </a:t>
            </a:r>
            <a:r>
              <a:rPr spc="80" dirty="0"/>
              <a:t>you</a:t>
            </a:r>
            <a:r>
              <a:rPr spc="-105" dirty="0"/>
              <a:t> </a:t>
            </a:r>
            <a:r>
              <a:rPr spc="55" dirty="0"/>
              <a:t>have</a:t>
            </a:r>
            <a:r>
              <a:rPr spc="-110" dirty="0"/>
              <a:t> </a:t>
            </a:r>
            <a:r>
              <a:rPr spc="80" dirty="0"/>
              <a:t>finished</a:t>
            </a:r>
            <a:r>
              <a:rPr spc="-105" dirty="0"/>
              <a:t> </a:t>
            </a:r>
            <a:r>
              <a:rPr spc="55" dirty="0"/>
              <a:t>looping,</a:t>
            </a:r>
            <a:r>
              <a:rPr spc="-105" dirty="0"/>
              <a:t> </a:t>
            </a:r>
            <a:r>
              <a:rPr spc="85" dirty="0"/>
              <a:t>return</a:t>
            </a:r>
            <a:r>
              <a:rPr spc="-110" dirty="0"/>
              <a:t> </a:t>
            </a:r>
            <a:r>
              <a:rPr spc="70" dirty="0"/>
              <a:t>the</a:t>
            </a:r>
            <a:r>
              <a:rPr spc="-105" dirty="0"/>
              <a:t> </a:t>
            </a:r>
            <a:r>
              <a:rPr spc="-20" dirty="0"/>
              <a:t>list</a:t>
            </a:r>
            <a:endParaRPr lang="en-US" spc="-2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9710" y="2070136"/>
            <a:ext cx="102380" cy="10238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9710" y="2433120"/>
            <a:ext cx="102380" cy="10237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9710" y="2796104"/>
            <a:ext cx="102380" cy="10237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9710" y="3159088"/>
            <a:ext cx="102380" cy="10238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49710" y="3885057"/>
            <a:ext cx="102380" cy="10237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49710" y="4248041"/>
            <a:ext cx="102380" cy="10237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9710" y="4611025"/>
            <a:ext cx="102380" cy="10237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9710" y="4974009"/>
            <a:ext cx="102380" cy="10237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9710" y="5336994"/>
            <a:ext cx="102380" cy="10237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49710" y="5699977"/>
            <a:ext cx="102380" cy="1023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6AC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4A2F666D9004F4DBB544B2BA9CA959F" ma:contentTypeVersion="11" ma:contentTypeDescription="Create a new document." ma:contentTypeScope="" ma:versionID="4375d518184a3dc6e81a4611bf193db0">
  <xsd:schema xmlns:xsd="http://www.w3.org/2001/XMLSchema" xmlns:xs="http://www.w3.org/2001/XMLSchema" xmlns:p="http://schemas.microsoft.com/office/2006/metadata/properties" xmlns:ns2="e037c586-02bc-4813-b052-97076388d298" xmlns:ns3="401de2da-ea13-4943-8e61-48e6374afd49" targetNamespace="http://schemas.microsoft.com/office/2006/metadata/properties" ma:root="true" ma:fieldsID="6a2bd26005838683304fc1859ec425bc" ns2:_="" ns3:_="">
    <xsd:import namespace="e037c586-02bc-4813-b052-97076388d298"/>
    <xsd:import namespace="401de2da-ea13-4943-8e61-48e6374afd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37c586-02bc-4813-b052-97076388d2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0513edf-9d01-408c-8f50-b47e619fdb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1de2da-ea13-4943-8e61-48e6374afd49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654bc7c-bb22-46b3-836a-15f6d7303185}" ma:internalName="TaxCatchAll" ma:showField="CatchAllData" ma:web="401de2da-ea13-4943-8e61-48e6374afd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01de2da-ea13-4943-8e61-48e6374afd49" xsi:nil="true"/>
    <lcf76f155ced4ddcb4097134ff3c332f xmlns="e037c586-02bc-4813-b052-97076388d29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7D73697-D0A8-47BD-AD20-7D23B3717A90}"/>
</file>

<file path=customXml/itemProps2.xml><?xml version="1.0" encoding="utf-8"?>
<ds:datastoreItem xmlns:ds="http://schemas.openxmlformats.org/officeDocument/2006/customXml" ds:itemID="{682B6CEB-1A2D-443F-8462-0073A07C5305}"/>
</file>

<file path=customXml/itemProps3.xml><?xml version="1.0" encoding="utf-8"?>
<ds:datastoreItem xmlns:ds="http://schemas.openxmlformats.org/officeDocument/2006/customXml" ds:itemID="{9C2860CA-0E89-45EA-A575-BD9DCCF2FDDF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843</Words>
  <Application>Microsoft Office PowerPoint</Application>
  <PresentationFormat>Widescreen</PresentationFormat>
  <Paragraphs>113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 Black</vt:lpstr>
      <vt:lpstr>Arial MT</vt:lpstr>
      <vt:lpstr>Tahoma</vt:lpstr>
      <vt:lpstr>Trebuchet MS</vt:lpstr>
      <vt:lpstr>Office Theme</vt:lpstr>
      <vt:lpstr>Singly</vt:lpstr>
      <vt:lpstr>What is a linked list?</vt:lpstr>
      <vt:lpstr>Singly Linked Lists</vt:lpstr>
      <vt:lpstr>Comparisons with Arrays</vt:lpstr>
      <vt:lpstr>Pushing</vt:lpstr>
      <vt:lpstr>Pushing pseudocode</vt:lpstr>
      <vt:lpstr>Popping</vt:lpstr>
      <vt:lpstr>Popping pseudocode</vt:lpstr>
      <vt:lpstr>Shifting</vt:lpstr>
      <vt:lpstr>Shifting pseudocode</vt:lpstr>
      <vt:lpstr>Unshifting</vt:lpstr>
      <vt:lpstr>Unshifting pseudocode</vt:lpstr>
      <vt:lpstr>Get</vt:lpstr>
      <vt:lpstr>Get pseudocode</vt:lpstr>
      <vt:lpstr>PowerPoint Presentation</vt:lpstr>
      <vt:lpstr>Set pseudocode</vt:lpstr>
      <vt:lpstr>Insert</vt:lpstr>
      <vt:lpstr>Insert pseudocode</vt:lpstr>
      <vt:lpstr>Remove</vt:lpstr>
      <vt:lpstr>Remove pseudocode</vt:lpstr>
      <vt:lpstr>REVERSE</vt:lpstr>
      <vt:lpstr>REVERSING A SINGLY LINKED LIST</vt:lpstr>
      <vt:lpstr>Reverse pseudocode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Singly</dc:title>
  <dc:creator>ITI</dc:creator>
  <cp:lastModifiedBy>Ayman El Sayed Lotfy Hassan</cp:lastModifiedBy>
  <cp:revision>2</cp:revision>
  <dcterms:created xsi:type="dcterms:W3CDTF">2026-03-30T10:58:52Z</dcterms:created>
  <dcterms:modified xsi:type="dcterms:W3CDTF">2026-03-30T11:05:23Z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2026-03-30T00:00:00Z</vt:filetime>
  </property>
  <property fmtid="{D5CDD505-2E9C-101B-9397-08002B2CF9AE}" pid="3" name="LastSaved">
    <vt:filetime>2026-03-30T00:00:00Z</vt:filetime>
  </property>
  <property fmtid="{D5CDD505-2E9C-101B-9397-08002B2CF9AE}" pid="4" name="ContentTypeId">
    <vt:lpwstr>0x010100E4A2F666D9004F4DBB544B2BA9CA959F</vt:lpwstr>
  </property>
</Properties>
</file>